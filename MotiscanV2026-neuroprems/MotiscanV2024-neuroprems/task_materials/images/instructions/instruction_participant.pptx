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2" r:id="rId3"/>
    <p:sldId id="260" r:id="rId4"/>
    <p:sldId id="261" r:id="rId5"/>
    <p:sldId id="264" r:id="rId6"/>
    <p:sldId id="265" r:id="rId7"/>
    <p:sldId id="267" r:id="rId8"/>
    <p:sldId id="268" r:id="rId9"/>
    <p:sldId id="269" r:id="rId10"/>
    <p:sldId id="270" r:id="rId11"/>
    <p:sldId id="271" r:id="rId12"/>
    <p:sldId id="259" r:id="rId13"/>
    <p:sldId id="263" r:id="rId14"/>
    <p:sldId id="257" r:id="rId15"/>
    <p:sldId id="258" r:id="rId16"/>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2" autoAdjust="0"/>
    <p:restoredTop sz="94660"/>
  </p:normalViewPr>
  <p:slideViewPr>
    <p:cSldViewPr snapToGrid="0">
      <p:cViewPr varScale="1">
        <p:scale>
          <a:sx n="116" d="100"/>
          <a:sy n="116" d="100"/>
        </p:scale>
        <p:origin x="390"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3"/>
            <a:ext cx="9144000" cy="2387600"/>
          </a:xfrm>
        </p:spPr>
        <p:txBody>
          <a:bodyPr anchor="b"/>
          <a:lstStyle>
            <a:lvl1pPr algn="ctr">
              <a:defRPr sz="6000"/>
            </a:lvl1pPr>
          </a:lstStyle>
          <a:p>
            <a:r>
              <a:rPr lang="fr-FR" smtClean="0"/>
              <a:t>Modifiez le style du titre</a:t>
            </a:r>
            <a:endParaRPr lang="fr-FR"/>
          </a:p>
        </p:txBody>
      </p:sp>
      <p:sp>
        <p:nvSpPr>
          <p:cNvPr id="3" name="Sous-titr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smtClean="0"/>
              <a:t>Modifiez le style des sous-titres du masque</a:t>
            </a:r>
            <a:endParaRPr lang="fr-FR"/>
          </a:p>
        </p:txBody>
      </p:sp>
      <p:sp>
        <p:nvSpPr>
          <p:cNvPr id="4" name="Espace réservé de la date 3"/>
          <p:cNvSpPr>
            <a:spLocks noGrp="1"/>
          </p:cNvSpPr>
          <p:nvPr>
            <p:ph type="dt" sz="half" idx="10"/>
          </p:nvPr>
        </p:nvSpPr>
        <p:spPr/>
        <p:txBody>
          <a:bodyPr/>
          <a:lstStyle/>
          <a:p>
            <a:fld id="{F05C3FBA-C2E8-4C8C-9FC3-095108B57B08}" type="datetimeFigureOut">
              <a:rPr lang="fr-FR" smtClean="0"/>
              <a:t>28/02/2017</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93959DF4-00F3-459D-B2E2-0A81E5E61BAA}" type="slidenum">
              <a:rPr lang="fr-FR" smtClean="0"/>
              <a:t>‹N°›</a:t>
            </a:fld>
            <a:endParaRPr lang="fr-FR"/>
          </a:p>
        </p:txBody>
      </p:sp>
    </p:spTree>
    <p:extLst>
      <p:ext uri="{BB962C8B-B14F-4D97-AF65-F5344CB8AC3E}">
        <p14:creationId xmlns:p14="http://schemas.microsoft.com/office/powerpoint/2010/main" val="30135828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contenu 2"/>
          <p:cNvSpPr>
            <a:spLocks noGrp="1"/>
          </p:cNvSpPr>
          <p:nvPr>
            <p:ph idx="1"/>
          </p:nvPr>
        </p:nvSpPr>
        <p:spPr/>
        <p:txBody>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F05C3FBA-C2E8-4C8C-9FC3-095108B57B08}" type="datetimeFigureOut">
              <a:rPr lang="fr-FR" smtClean="0"/>
              <a:t>28/02/2017</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93959DF4-00F3-459D-B2E2-0A81E5E61BAA}" type="slidenum">
              <a:rPr lang="fr-FR" smtClean="0"/>
              <a:t>‹N°›</a:t>
            </a:fld>
            <a:endParaRPr lang="fr-FR"/>
          </a:p>
        </p:txBody>
      </p:sp>
    </p:spTree>
    <p:extLst>
      <p:ext uri="{BB962C8B-B14F-4D97-AF65-F5344CB8AC3E}">
        <p14:creationId xmlns:p14="http://schemas.microsoft.com/office/powerpoint/2010/main" val="7090707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831850" y="1709738"/>
            <a:ext cx="10515600" cy="2852737"/>
          </a:xfrm>
        </p:spPr>
        <p:txBody>
          <a:bodyPr anchor="b"/>
          <a:lstStyle>
            <a:lvl1pPr>
              <a:defRPr sz="6000"/>
            </a:lvl1pPr>
          </a:lstStyle>
          <a:p>
            <a:r>
              <a:rPr lang="fr-FR" smtClean="0"/>
              <a:t>Modifiez le style du titre</a:t>
            </a:r>
            <a:endParaRPr lang="fr-FR"/>
          </a:p>
        </p:txBody>
      </p:sp>
      <p:sp>
        <p:nvSpPr>
          <p:cNvPr id="3" name="Espace réservé du texte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smtClean="0"/>
              <a:t>Modifiez les styles du texte du masque</a:t>
            </a:r>
          </a:p>
        </p:txBody>
      </p:sp>
      <p:sp>
        <p:nvSpPr>
          <p:cNvPr id="4" name="Espace réservé de la date 3"/>
          <p:cNvSpPr>
            <a:spLocks noGrp="1"/>
          </p:cNvSpPr>
          <p:nvPr>
            <p:ph type="dt" sz="half" idx="10"/>
          </p:nvPr>
        </p:nvSpPr>
        <p:spPr/>
        <p:txBody>
          <a:bodyPr/>
          <a:lstStyle/>
          <a:p>
            <a:fld id="{F05C3FBA-C2E8-4C8C-9FC3-095108B57B08}" type="datetimeFigureOut">
              <a:rPr lang="fr-FR" smtClean="0"/>
              <a:t>28/02/2017</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93959DF4-00F3-459D-B2E2-0A81E5E61BAA}" type="slidenum">
              <a:rPr lang="fr-FR" smtClean="0"/>
              <a:t>‹N°›</a:t>
            </a:fld>
            <a:endParaRPr lang="fr-FR"/>
          </a:p>
        </p:txBody>
      </p:sp>
    </p:spTree>
    <p:extLst>
      <p:ext uri="{BB962C8B-B14F-4D97-AF65-F5344CB8AC3E}">
        <p14:creationId xmlns:p14="http://schemas.microsoft.com/office/powerpoint/2010/main" val="31351466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contenu 2"/>
          <p:cNvSpPr>
            <a:spLocks noGrp="1"/>
          </p:cNvSpPr>
          <p:nvPr>
            <p:ph sz="half" idx="1"/>
          </p:nvPr>
        </p:nvSpPr>
        <p:spPr>
          <a:xfrm>
            <a:off x="838200" y="1825625"/>
            <a:ext cx="5181600" cy="4351338"/>
          </a:xfrm>
        </p:spPr>
        <p:txBody>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contenu 3"/>
          <p:cNvSpPr>
            <a:spLocks noGrp="1"/>
          </p:cNvSpPr>
          <p:nvPr>
            <p:ph sz="half" idx="2"/>
          </p:nvPr>
        </p:nvSpPr>
        <p:spPr>
          <a:xfrm>
            <a:off x="6172200" y="1825625"/>
            <a:ext cx="5181600" cy="4351338"/>
          </a:xfrm>
        </p:spPr>
        <p:txBody>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e la date 4"/>
          <p:cNvSpPr>
            <a:spLocks noGrp="1"/>
          </p:cNvSpPr>
          <p:nvPr>
            <p:ph type="dt" sz="half" idx="10"/>
          </p:nvPr>
        </p:nvSpPr>
        <p:spPr/>
        <p:txBody>
          <a:bodyPr/>
          <a:lstStyle/>
          <a:p>
            <a:fld id="{F05C3FBA-C2E8-4C8C-9FC3-095108B57B08}" type="datetimeFigureOut">
              <a:rPr lang="fr-FR" smtClean="0"/>
              <a:t>28/02/2017</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93959DF4-00F3-459D-B2E2-0A81E5E61BAA}" type="slidenum">
              <a:rPr lang="fr-FR" smtClean="0"/>
              <a:t>‹N°›</a:t>
            </a:fld>
            <a:endParaRPr lang="fr-FR"/>
          </a:p>
        </p:txBody>
      </p:sp>
    </p:spTree>
    <p:extLst>
      <p:ext uri="{BB962C8B-B14F-4D97-AF65-F5344CB8AC3E}">
        <p14:creationId xmlns:p14="http://schemas.microsoft.com/office/powerpoint/2010/main" val="5082008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839788" y="365125"/>
            <a:ext cx="10515600" cy="1325563"/>
          </a:xfrm>
        </p:spPr>
        <p:txBody>
          <a:bodyPr/>
          <a:lstStyle/>
          <a:p>
            <a:r>
              <a:rPr lang="fr-FR" smtClean="0"/>
              <a:t>Modifiez le style du titre</a:t>
            </a:r>
            <a:endParaRPr lang="fr-FR"/>
          </a:p>
        </p:txBody>
      </p:sp>
      <p:sp>
        <p:nvSpPr>
          <p:cNvPr id="3" name="Espace réservé du texte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Modifiez les styles du texte du masque</a:t>
            </a:r>
          </a:p>
        </p:txBody>
      </p:sp>
      <p:sp>
        <p:nvSpPr>
          <p:cNvPr id="4" name="Espace réservé du contenu 3"/>
          <p:cNvSpPr>
            <a:spLocks noGrp="1"/>
          </p:cNvSpPr>
          <p:nvPr>
            <p:ph sz="half" idx="2"/>
          </p:nvPr>
        </p:nvSpPr>
        <p:spPr>
          <a:xfrm>
            <a:off x="839788" y="2505075"/>
            <a:ext cx="5157787" cy="3684588"/>
          </a:xfrm>
        </p:spPr>
        <p:txBody>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u texte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Modifiez les styles du texte du masque</a:t>
            </a:r>
          </a:p>
        </p:txBody>
      </p:sp>
      <p:sp>
        <p:nvSpPr>
          <p:cNvPr id="6" name="Espace réservé du contenu 5"/>
          <p:cNvSpPr>
            <a:spLocks noGrp="1"/>
          </p:cNvSpPr>
          <p:nvPr>
            <p:ph sz="quarter" idx="4"/>
          </p:nvPr>
        </p:nvSpPr>
        <p:spPr>
          <a:xfrm>
            <a:off x="6172200" y="2505075"/>
            <a:ext cx="5183188" cy="3684588"/>
          </a:xfrm>
        </p:spPr>
        <p:txBody>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7" name="Espace réservé de la date 6"/>
          <p:cNvSpPr>
            <a:spLocks noGrp="1"/>
          </p:cNvSpPr>
          <p:nvPr>
            <p:ph type="dt" sz="half" idx="10"/>
          </p:nvPr>
        </p:nvSpPr>
        <p:spPr/>
        <p:txBody>
          <a:bodyPr/>
          <a:lstStyle/>
          <a:p>
            <a:fld id="{F05C3FBA-C2E8-4C8C-9FC3-095108B57B08}" type="datetimeFigureOut">
              <a:rPr lang="fr-FR" smtClean="0"/>
              <a:t>28/02/2017</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93959DF4-00F3-459D-B2E2-0A81E5E61BAA}" type="slidenum">
              <a:rPr lang="fr-FR" smtClean="0"/>
              <a:t>‹N°›</a:t>
            </a:fld>
            <a:endParaRPr lang="fr-FR"/>
          </a:p>
        </p:txBody>
      </p:sp>
    </p:spTree>
    <p:extLst>
      <p:ext uri="{BB962C8B-B14F-4D97-AF65-F5344CB8AC3E}">
        <p14:creationId xmlns:p14="http://schemas.microsoft.com/office/powerpoint/2010/main" val="9295726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e la date 2"/>
          <p:cNvSpPr>
            <a:spLocks noGrp="1"/>
          </p:cNvSpPr>
          <p:nvPr>
            <p:ph type="dt" sz="half" idx="10"/>
          </p:nvPr>
        </p:nvSpPr>
        <p:spPr/>
        <p:txBody>
          <a:bodyPr/>
          <a:lstStyle/>
          <a:p>
            <a:fld id="{F05C3FBA-C2E8-4C8C-9FC3-095108B57B08}" type="datetimeFigureOut">
              <a:rPr lang="fr-FR" smtClean="0"/>
              <a:t>28/02/2017</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93959DF4-00F3-459D-B2E2-0A81E5E61BAA}" type="slidenum">
              <a:rPr lang="fr-FR" smtClean="0"/>
              <a:t>‹N°›</a:t>
            </a:fld>
            <a:endParaRPr lang="fr-FR"/>
          </a:p>
        </p:txBody>
      </p:sp>
    </p:spTree>
    <p:extLst>
      <p:ext uri="{BB962C8B-B14F-4D97-AF65-F5344CB8AC3E}">
        <p14:creationId xmlns:p14="http://schemas.microsoft.com/office/powerpoint/2010/main" val="4573730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F05C3FBA-C2E8-4C8C-9FC3-095108B57B08}" type="datetimeFigureOut">
              <a:rPr lang="fr-FR" smtClean="0"/>
              <a:t>28/02/2017</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93959DF4-00F3-459D-B2E2-0A81E5E61BAA}" type="slidenum">
              <a:rPr lang="fr-FR" smtClean="0"/>
              <a:t>‹N°›</a:t>
            </a:fld>
            <a:endParaRPr lang="fr-FR"/>
          </a:p>
        </p:txBody>
      </p:sp>
    </p:spTree>
    <p:extLst>
      <p:ext uri="{BB962C8B-B14F-4D97-AF65-F5344CB8AC3E}">
        <p14:creationId xmlns:p14="http://schemas.microsoft.com/office/powerpoint/2010/main" val="15017004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smtClean="0"/>
              <a:t>Modifiez le style du titre</a:t>
            </a:r>
            <a:endParaRPr lang="fr-FR"/>
          </a:p>
        </p:txBody>
      </p:sp>
      <p:sp>
        <p:nvSpPr>
          <p:cNvPr id="3" name="Espace réservé du conten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smtClean="0"/>
              <a:t>Modifiez les styles du texte du masque</a:t>
            </a:r>
          </a:p>
        </p:txBody>
      </p:sp>
      <p:sp>
        <p:nvSpPr>
          <p:cNvPr id="5" name="Espace réservé de la date 4"/>
          <p:cNvSpPr>
            <a:spLocks noGrp="1"/>
          </p:cNvSpPr>
          <p:nvPr>
            <p:ph type="dt" sz="half" idx="10"/>
          </p:nvPr>
        </p:nvSpPr>
        <p:spPr/>
        <p:txBody>
          <a:bodyPr/>
          <a:lstStyle/>
          <a:p>
            <a:fld id="{F05C3FBA-C2E8-4C8C-9FC3-095108B57B08}" type="datetimeFigureOut">
              <a:rPr lang="fr-FR" smtClean="0"/>
              <a:t>28/02/2017</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93959DF4-00F3-459D-B2E2-0A81E5E61BAA}" type="slidenum">
              <a:rPr lang="fr-FR" smtClean="0"/>
              <a:t>‹N°›</a:t>
            </a:fld>
            <a:endParaRPr lang="fr-FR"/>
          </a:p>
        </p:txBody>
      </p:sp>
    </p:spTree>
    <p:extLst>
      <p:ext uri="{BB962C8B-B14F-4D97-AF65-F5344CB8AC3E}">
        <p14:creationId xmlns:p14="http://schemas.microsoft.com/office/powerpoint/2010/main" val="41463680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smtClean="0"/>
              <a:t>Modifiez le style du titre</a:t>
            </a:r>
            <a:endParaRPr lang="fr-FR"/>
          </a:p>
        </p:txBody>
      </p:sp>
      <p:sp>
        <p:nvSpPr>
          <p:cNvPr id="3" name="Espace réservé pour une imag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smtClean="0"/>
              <a:t>Modifiez les styles du texte du masque</a:t>
            </a:r>
          </a:p>
        </p:txBody>
      </p:sp>
      <p:sp>
        <p:nvSpPr>
          <p:cNvPr id="5" name="Espace réservé de la date 4"/>
          <p:cNvSpPr>
            <a:spLocks noGrp="1"/>
          </p:cNvSpPr>
          <p:nvPr>
            <p:ph type="dt" sz="half" idx="10"/>
          </p:nvPr>
        </p:nvSpPr>
        <p:spPr/>
        <p:txBody>
          <a:bodyPr/>
          <a:lstStyle/>
          <a:p>
            <a:fld id="{F05C3FBA-C2E8-4C8C-9FC3-095108B57B08}" type="datetimeFigureOut">
              <a:rPr lang="fr-FR" smtClean="0"/>
              <a:t>28/02/2017</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93959DF4-00F3-459D-B2E2-0A81E5E61BAA}" type="slidenum">
              <a:rPr lang="fr-FR" smtClean="0"/>
              <a:t>‹N°›</a:t>
            </a:fld>
            <a:endParaRPr lang="fr-FR"/>
          </a:p>
        </p:txBody>
      </p:sp>
    </p:spTree>
    <p:extLst>
      <p:ext uri="{BB962C8B-B14F-4D97-AF65-F5344CB8AC3E}">
        <p14:creationId xmlns:p14="http://schemas.microsoft.com/office/powerpoint/2010/main" val="349360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texte vertical 2"/>
          <p:cNvSpPr>
            <a:spLocks noGrp="1"/>
          </p:cNvSpPr>
          <p:nvPr>
            <p:ph type="body" orient="vert" idx="1"/>
          </p:nvPr>
        </p:nvSpPr>
        <p:spPr/>
        <p:txBody>
          <a:bodyPr vert="eaVert"/>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F05C3FBA-C2E8-4C8C-9FC3-095108B57B08}" type="datetimeFigureOut">
              <a:rPr lang="fr-FR" smtClean="0"/>
              <a:t>28/02/2017</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93959DF4-00F3-459D-B2E2-0A81E5E61BAA}" type="slidenum">
              <a:rPr lang="fr-FR" smtClean="0"/>
              <a:t>‹N°›</a:t>
            </a:fld>
            <a:endParaRPr lang="fr-FR"/>
          </a:p>
        </p:txBody>
      </p:sp>
    </p:spTree>
    <p:extLst>
      <p:ext uri="{BB962C8B-B14F-4D97-AF65-F5344CB8AC3E}">
        <p14:creationId xmlns:p14="http://schemas.microsoft.com/office/powerpoint/2010/main" val="41147599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724900" y="365125"/>
            <a:ext cx="2628900" cy="5811838"/>
          </a:xfrm>
        </p:spPr>
        <p:txBody>
          <a:bodyPr vert="eaVert"/>
          <a:lstStyle/>
          <a:p>
            <a:r>
              <a:rPr lang="fr-FR" smtClean="0"/>
              <a:t>Modifiez le style du titre</a:t>
            </a:r>
            <a:endParaRPr lang="fr-FR"/>
          </a:p>
        </p:txBody>
      </p:sp>
      <p:sp>
        <p:nvSpPr>
          <p:cNvPr id="3" name="Espace réservé du texte vertical 2"/>
          <p:cNvSpPr>
            <a:spLocks noGrp="1"/>
          </p:cNvSpPr>
          <p:nvPr>
            <p:ph type="body" orient="vert" idx="1"/>
          </p:nvPr>
        </p:nvSpPr>
        <p:spPr>
          <a:xfrm>
            <a:off x="838200" y="365125"/>
            <a:ext cx="7734300" cy="5811838"/>
          </a:xfrm>
        </p:spPr>
        <p:txBody>
          <a:bodyPr vert="eaVert"/>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F05C3FBA-C2E8-4C8C-9FC3-095108B57B08}" type="datetimeFigureOut">
              <a:rPr lang="fr-FR" smtClean="0"/>
              <a:t>28/02/2017</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93959DF4-00F3-459D-B2E2-0A81E5E61BAA}" type="slidenum">
              <a:rPr lang="fr-FR" smtClean="0"/>
              <a:t>‹N°›</a:t>
            </a:fld>
            <a:endParaRPr lang="fr-FR"/>
          </a:p>
        </p:txBody>
      </p:sp>
    </p:spTree>
    <p:extLst>
      <p:ext uri="{BB962C8B-B14F-4D97-AF65-F5344CB8AC3E}">
        <p14:creationId xmlns:p14="http://schemas.microsoft.com/office/powerpoint/2010/main" val="28123882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smtClean="0"/>
              <a:t>Modifiez le style du titre</a:t>
            </a:r>
            <a:endParaRPr lang="fr-FR"/>
          </a:p>
        </p:txBody>
      </p:sp>
      <p:sp>
        <p:nvSpPr>
          <p:cNvPr id="3" name="Espace réservé du texte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05C3FBA-C2E8-4C8C-9FC3-095108B57B08}" type="datetimeFigureOut">
              <a:rPr lang="fr-FR" smtClean="0"/>
              <a:t>28/02/2017</a:t>
            </a:fld>
            <a:endParaRPr lang="fr-FR"/>
          </a:p>
        </p:txBody>
      </p:sp>
      <p:sp>
        <p:nvSpPr>
          <p:cNvPr id="5" name="Espace réservé du pied de page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3959DF4-00F3-459D-B2E2-0A81E5E61BAA}" type="slidenum">
              <a:rPr lang="fr-FR" smtClean="0"/>
              <a:t>‹N°›</a:t>
            </a:fld>
            <a:endParaRPr lang="fr-FR"/>
          </a:p>
        </p:txBody>
      </p:sp>
    </p:spTree>
    <p:extLst>
      <p:ext uri="{BB962C8B-B14F-4D97-AF65-F5344CB8AC3E}">
        <p14:creationId xmlns:p14="http://schemas.microsoft.com/office/powerpoint/2010/main" val="40273153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7" name="Espace réservé du contenu 6"/>
          <p:cNvSpPr>
            <a:spLocks noGrp="1"/>
          </p:cNvSpPr>
          <p:nvPr>
            <p:ph idx="1"/>
          </p:nvPr>
        </p:nvSpPr>
        <p:spPr>
          <a:xfrm>
            <a:off x="865094" y="817095"/>
            <a:ext cx="10515600" cy="4351338"/>
          </a:xfrm>
        </p:spPr>
        <p:txBody>
          <a:bodyPr/>
          <a:lstStyle/>
          <a:p>
            <a:pPr marL="0" indent="0" algn="ctr">
              <a:buNone/>
            </a:pPr>
            <a:r>
              <a:rPr lang="fr-FR" dirty="0">
                <a:solidFill>
                  <a:schemeClr val="bg1"/>
                </a:solidFill>
              </a:rPr>
              <a:t>Dans ce test, vous allez devoir donner des notes à différentes récompenses. Les récompenses </a:t>
            </a:r>
            <a:r>
              <a:rPr lang="fr-FR" dirty="0" smtClean="0">
                <a:solidFill>
                  <a:schemeClr val="bg1"/>
                </a:solidFill>
              </a:rPr>
              <a:t>s'afficheront </a:t>
            </a:r>
            <a:r>
              <a:rPr lang="fr-FR" dirty="0">
                <a:solidFill>
                  <a:schemeClr val="bg1"/>
                </a:solidFill>
              </a:rPr>
              <a:t>à </a:t>
            </a:r>
            <a:r>
              <a:rPr lang="fr-FR" dirty="0" smtClean="0">
                <a:solidFill>
                  <a:schemeClr val="bg1"/>
                </a:solidFill>
              </a:rPr>
              <a:t>l'écran </a:t>
            </a:r>
            <a:r>
              <a:rPr lang="fr-FR" dirty="0">
                <a:solidFill>
                  <a:schemeClr val="bg1"/>
                </a:solidFill>
              </a:rPr>
              <a:t>sous forme de texte. En dessous, vous verrez une réglette. Vous devrez indiquer sur cette </a:t>
            </a:r>
            <a:r>
              <a:rPr lang="fr-FR" dirty="0" smtClean="0">
                <a:solidFill>
                  <a:schemeClr val="bg1"/>
                </a:solidFill>
              </a:rPr>
              <a:t>réglette </a:t>
            </a:r>
            <a:r>
              <a:rPr lang="fr-FR" b="1" i="1" dirty="0" smtClean="0">
                <a:solidFill>
                  <a:schemeClr val="bg1"/>
                </a:solidFill>
              </a:rPr>
              <a:t>A quel point cela </a:t>
            </a:r>
            <a:r>
              <a:rPr lang="fr-FR" b="1" i="1" dirty="0">
                <a:solidFill>
                  <a:schemeClr val="bg1"/>
                </a:solidFill>
              </a:rPr>
              <a:t>vous </a:t>
            </a:r>
            <a:r>
              <a:rPr lang="fr-FR" b="1" i="1" dirty="0" smtClean="0">
                <a:solidFill>
                  <a:schemeClr val="bg1"/>
                </a:solidFill>
              </a:rPr>
              <a:t>ferait </a:t>
            </a:r>
            <a:r>
              <a:rPr lang="fr-FR" b="1" i="1" dirty="0">
                <a:solidFill>
                  <a:schemeClr val="bg1"/>
                </a:solidFill>
              </a:rPr>
              <a:t>plaisir de gagner cette récompense</a:t>
            </a:r>
            <a:r>
              <a:rPr lang="fr-FR" dirty="0">
                <a:solidFill>
                  <a:schemeClr val="bg1"/>
                </a:solidFill>
              </a:rPr>
              <a:t>. Vous devrez déplacer un curseur sur la réglette, entre "Pas du tout" et "Beaucoup", a </a:t>
            </a:r>
            <a:r>
              <a:rPr lang="fr-FR" dirty="0" smtClean="0">
                <a:solidFill>
                  <a:schemeClr val="bg1"/>
                </a:solidFill>
              </a:rPr>
              <a:t>l'aide </a:t>
            </a:r>
            <a:r>
              <a:rPr lang="fr-FR" dirty="0">
                <a:solidFill>
                  <a:schemeClr val="bg1"/>
                </a:solidFill>
              </a:rPr>
              <a:t>des flèches droite et gauche du clavier. Lorsque vous êtes </a:t>
            </a:r>
            <a:r>
              <a:rPr lang="fr-FR" dirty="0" smtClean="0">
                <a:solidFill>
                  <a:schemeClr val="bg1"/>
                </a:solidFill>
              </a:rPr>
              <a:t>satisfait </a:t>
            </a:r>
            <a:r>
              <a:rPr lang="fr-FR" dirty="0">
                <a:solidFill>
                  <a:schemeClr val="bg1"/>
                </a:solidFill>
              </a:rPr>
              <a:t>de la position du curseur, passez à </a:t>
            </a:r>
            <a:r>
              <a:rPr lang="fr-FR" dirty="0" smtClean="0">
                <a:solidFill>
                  <a:schemeClr val="bg1"/>
                </a:solidFill>
              </a:rPr>
              <a:t>l'essai </a:t>
            </a:r>
            <a:r>
              <a:rPr lang="fr-FR" dirty="0">
                <a:solidFill>
                  <a:schemeClr val="bg1"/>
                </a:solidFill>
              </a:rPr>
              <a:t>suivant en appuyant sur la barre espace.</a:t>
            </a:r>
          </a:p>
          <a:p>
            <a:pPr marL="0" indent="0" algn="ctr">
              <a:buNone/>
            </a:pPr>
            <a:endParaRPr lang="fr-FR" dirty="0">
              <a:solidFill>
                <a:schemeClr val="bg1"/>
              </a:solidFill>
            </a:endParaRPr>
          </a:p>
        </p:txBody>
      </p:sp>
    </p:spTree>
    <p:extLst>
      <p:ext uri="{BB962C8B-B14F-4D97-AF65-F5344CB8AC3E}">
        <p14:creationId xmlns:p14="http://schemas.microsoft.com/office/powerpoint/2010/main" val="39343830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7" name="Espace réservé du contenu 6"/>
          <p:cNvSpPr>
            <a:spLocks noGrp="1"/>
          </p:cNvSpPr>
          <p:nvPr>
            <p:ph idx="1"/>
          </p:nvPr>
        </p:nvSpPr>
        <p:spPr>
          <a:xfrm>
            <a:off x="865094" y="817095"/>
            <a:ext cx="10515600" cy="4351338"/>
          </a:xfrm>
        </p:spPr>
        <p:txBody>
          <a:bodyPr/>
          <a:lstStyle/>
          <a:p>
            <a:pPr marL="0" indent="0" algn="ctr">
              <a:buNone/>
            </a:pPr>
            <a:r>
              <a:rPr lang="fr-FR" dirty="0">
                <a:solidFill>
                  <a:schemeClr val="bg1"/>
                </a:solidFill>
              </a:rPr>
              <a:t>Dans ce test, vous allez devoir donner des notes à différentes récompenses. Les récompenses </a:t>
            </a:r>
            <a:r>
              <a:rPr lang="fr-FR" dirty="0" smtClean="0">
                <a:solidFill>
                  <a:schemeClr val="bg1"/>
                </a:solidFill>
              </a:rPr>
              <a:t>s'afficheront </a:t>
            </a:r>
            <a:r>
              <a:rPr lang="fr-FR" dirty="0">
                <a:solidFill>
                  <a:schemeClr val="bg1"/>
                </a:solidFill>
              </a:rPr>
              <a:t>à </a:t>
            </a:r>
            <a:r>
              <a:rPr lang="fr-FR" dirty="0" smtClean="0">
                <a:solidFill>
                  <a:schemeClr val="bg1"/>
                </a:solidFill>
              </a:rPr>
              <a:t>l'écran </a:t>
            </a:r>
            <a:r>
              <a:rPr lang="fr-FR" dirty="0">
                <a:solidFill>
                  <a:schemeClr val="bg1"/>
                </a:solidFill>
              </a:rPr>
              <a:t>sous forme </a:t>
            </a:r>
            <a:r>
              <a:rPr lang="fr-FR" dirty="0" smtClean="0">
                <a:solidFill>
                  <a:schemeClr val="bg1"/>
                </a:solidFill>
              </a:rPr>
              <a:t>d’images. </a:t>
            </a:r>
            <a:r>
              <a:rPr lang="fr-FR" dirty="0">
                <a:solidFill>
                  <a:schemeClr val="bg1"/>
                </a:solidFill>
              </a:rPr>
              <a:t>En dessous, vous verrez une réglette. Vous devrez indiquer sur cette </a:t>
            </a:r>
            <a:r>
              <a:rPr lang="fr-FR" dirty="0" smtClean="0">
                <a:solidFill>
                  <a:schemeClr val="bg1"/>
                </a:solidFill>
              </a:rPr>
              <a:t>réglette </a:t>
            </a:r>
            <a:r>
              <a:rPr lang="fr-FR" b="1" i="1" dirty="0" smtClean="0">
                <a:solidFill>
                  <a:schemeClr val="bg1"/>
                </a:solidFill>
              </a:rPr>
              <a:t>A quel point cela </a:t>
            </a:r>
            <a:r>
              <a:rPr lang="fr-FR" b="1" i="1" dirty="0">
                <a:solidFill>
                  <a:schemeClr val="bg1"/>
                </a:solidFill>
              </a:rPr>
              <a:t>vous </a:t>
            </a:r>
            <a:r>
              <a:rPr lang="fr-FR" b="1" i="1" dirty="0" smtClean="0">
                <a:solidFill>
                  <a:schemeClr val="bg1"/>
                </a:solidFill>
              </a:rPr>
              <a:t>ferait </a:t>
            </a:r>
            <a:r>
              <a:rPr lang="fr-FR" b="1" i="1" dirty="0">
                <a:solidFill>
                  <a:schemeClr val="bg1"/>
                </a:solidFill>
              </a:rPr>
              <a:t>plaisir de gagner cette récompense</a:t>
            </a:r>
            <a:r>
              <a:rPr lang="fr-FR" dirty="0">
                <a:solidFill>
                  <a:schemeClr val="bg1"/>
                </a:solidFill>
              </a:rPr>
              <a:t>. Vous devrez déplacer un curseur sur la réglette, entre "Pas du tout" et "Beaucoup", a </a:t>
            </a:r>
            <a:r>
              <a:rPr lang="fr-FR" dirty="0" smtClean="0">
                <a:solidFill>
                  <a:schemeClr val="bg1"/>
                </a:solidFill>
              </a:rPr>
              <a:t>l'aide </a:t>
            </a:r>
            <a:r>
              <a:rPr lang="fr-FR" dirty="0">
                <a:solidFill>
                  <a:schemeClr val="bg1"/>
                </a:solidFill>
              </a:rPr>
              <a:t>des flèches droite et gauche du clavier. Lorsque vous êtes </a:t>
            </a:r>
            <a:r>
              <a:rPr lang="fr-FR" dirty="0" smtClean="0">
                <a:solidFill>
                  <a:schemeClr val="bg1"/>
                </a:solidFill>
              </a:rPr>
              <a:t>satisfait </a:t>
            </a:r>
            <a:r>
              <a:rPr lang="fr-FR" dirty="0">
                <a:solidFill>
                  <a:schemeClr val="bg1"/>
                </a:solidFill>
              </a:rPr>
              <a:t>de la position du curseur, passez à </a:t>
            </a:r>
            <a:r>
              <a:rPr lang="fr-FR" dirty="0" smtClean="0">
                <a:solidFill>
                  <a:schemeClr val="bg1"/>
                </a:solidFill>
              </a:rPr>
              <a:t>l'essai </a:t>
            </a:r>
            <a:r>
              <a:rPr lang="fr-FR" dirty="0">
                <a:solidFill>
                  <a:schemeClr val="bg1"/>
                </a:solidFill>
              </a:rPr>
              <a:t>suivant en appuyant sur la barre espace.</a:t>
            </a:r>
          </a:p>
          <a:p>
            <a:pPr marL="0" indent="0" algn="ctr">
              <a:buNone/>
            </a:pPr>
            <a:endParaRPr lang="fr-FR" dirty="0">
              <a:solidFill>
                <a:schemeClr val="bg1"/>
              </a:solidFill>
            </a:endParaRPr>
          </a:p>
        </p:txBody>
      </p:sp>
    </p:spTree>
    <p:extLst>
      <p:ext uri="{BB962C8B-B14F-4D97-AF65-F5344CB8AC3E}">
        <p14:creationId xmlns:p14="http://schemas.microsoft.com/office/powerpoint/2010/main" val="13094694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7" name="Espace réservé du contenu 6"/>
          <p:cNvSpPr>
            <a:spLocks noGrp="1"/>
          </p:cNvSpPr>
          <p:nvPr>
            <p:ph idx="1"/>
          </p:nvPr>
        </p:nvSpPr>
        <p:spPr>
          <a:xfrm>
            <a:off x="865094" y="817095"/>
            <a:ext cx="10515600" cy="4351338"/>
          </a:xfrm>
        </p:spPr>
        <p:txBody>
          <a:bodyPr/>
          <a:lstStyle/>
          <a:p>
            <a:pPr marL="0" indent="0" algn="ctr">
              <a:buNone/>
            </a:pPr>
            <a:r>
              <a:rPr lang="fr-FR" dirty="0">
                <a:solidFill>
                  <a:schemeClr val="bg1"/>
                </a:solidFill>
              </a:rPr>
              <a:t>Dans ce test, vous allez devoir donner des notes à différentes </a:t>
            </a:r>
            <a:r>
              <a:rPr lang="fr-FR" dirty="0" smtClean="0">
                <a:solidFill>
                  <a:schemeClr val="bg1"/>
                </a:solidFill>
              </a:rPr>
              <a:t>punitions. </a:t>
            </a:r>
            <a:r>
              <a:rPr lang="fr-FR" dirty="0">
                <a:solidFill>
                  <a:schemeClr val="bg1"/>
                </a:solidFill>
              </a:rPr>
              <a:t>Les punitions </a:t>
            </a:r>
            <a:r>
              <a:rPr lang="fr-FR" dirty="0" smtClean="0">
                <a:solidFill>
                  <a:schemeClr val="bg1"/>
                </a:solidFill>
              </a:rPr>
              <a:t>s'afficheront </a:t>
            </a:r>
            <a:r>
              <a:rPr lang="fr-FR" dirty="0">
                <a:solidFill>
                  <a:schemeClr val="bg1"/>
                </a:solidFill>
              </a:rPr>
              <a:t>à </a:t>
            </a:r>
            <a:r>
              <a:rPr lang="fr-FR" dirty="0" smtClean="0">
                <a:solidFill>
                  <a:schemeClr val="bg1"/>
                </a:solidFill>
              </a:rPr>
              <a:t>l'écran </a:t>
            </a:r>
            <a:r>
              <a:rPr lang="fr-FR" dirty="0">
                <a:solidFill>
                  <a:schemeClr val="bg1"/>
                </a:solidFill>
              </a:rPr>
              <a:t>sous forme de texte. En dessous, vous verrez une réglette. Vous devrez indiquer sur cette </a:t>
            </a:r>
            <a:r>
              <a:rPr lang="fr-FR" dirty="0" smtClean="0">
                <a:solidFill>
                  <a:schemeClr val="bg1"/>
                </a:solidFill>
              </a:rPr>
              <a:t>réglette </a:t>
            </a:r>
            <a:r>
              <a:rPr lang="fr-FR" b="1" i="1" dirty="0" smtClean="0">
                <a:solidFill>
                  <a:schemeClr val="bg1"/>
                </a:solidFill>
              </a:rPr>
              <a:t>A quel point cela vous déplairait de subir cette punition</a:t>
            </a:r>
            <a:r>
              <a:rPr lang="fr-FR" dirty="0" smtClean="0">
                <a:solidFill>
                  <a:schemeClr val="bg1"/>
                </a:solidFill>
              </a:rPr>
              <a:t>. </a:t>
            </a:r>
            <a:r>
              <a:rPr lang="fr-FR" dirty="0">
                <a:solidFill>
                  <a:schemeClr val="bg1"/>
                </a:solidFill>
              </a:rPr>
              <a:t>Vous devrez déplacer un curseur sur la réglette, entre "Pas du tout" et "Beaucoup", a </a:t>
            </a:r>
            <a:r>
              <a:rPr lang="fr-FR" dirty="0" smtClean="0">
                <a:solidFill>
                  <a:schemeClr val="bg1"/>
                </a:solidFill>
              </a:rPr>
              <a:t>l'aide </a:t>
            </a:r>
            <a:r>
              <a:rPr lang="fr-FR" dirty="0">
                <a:solidFill>
                  <a:schemeClr val="bg1"/>
                </a:solidFill>
              </a:rPr>
              <a:t>des flèches droite et gauche du clavier. Lorsque vous êtes </a:t>
            </a:r>
            <a:r>
              <a:rPr lang="fr-FR" dirty="0" smtClean="0">
                <a:solidFill>
                  <a:schemeClr val="bg1"/>
                </a:solidFill>
              </a:rPr>
              <a:t>satisfait </a:t>
            </a:r>
            <a:r>
              <a:rPr lang="fr-FR" dirty="0">
                <a:solidFill>
                  <a:schemeClr val="bg1"/>
                </a:solidFill>
              </a:rPr>
              <a:t>de la position du curseur, passez à </a:t>
            </a:r>
            <a:r>
              <a:rPr lang="fr-FR" dirty="0" smtClean="0">
                <a:solidFill>
                  <a:schemeClr val="bg1"/>
                </a:solidFill>
              </a:rPr>
              <a:t>l'essai </a:t>
            </a:r>
            <a:r>
              <a:rPr lang="fr-FR" dirty="0">
                <a:solidFill>
                  <a:schemeClr val="bg1"/>
                </a:solidFill>
              </a:rPr>
              <a:t>suivant en appuyant sur la barre espace.</a:t>
            </a:r>
          </a:p>
          <a:p>
            <a:pPr marL="0" indent="0" algn="ctr">
              <a:buNone/>
            </a:pPr>
            <a:endParaRPr lang="fr-FR" dirty="0">
              <a:solidFill>
                <a:schemeClr val="bg1"/>
              </a:solidFill>
            </a:endParaRPr>
          </a:p>
        </p:txBody>
      </p:sp>
    </p:spTree>
    <p:extLst>
      <p:ext uri="{BB962C8B-B14F-4D97-AF65-F5344CB8AC3E}">
        <p14:creationId xmlns:p14="http://schemas.microsoft.com/office/powerpoint/2010/main" val="37965312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7" name="Espace réservé du contenu 6"/>
          <p:cNvSpPr>
            <a:spLocks noGrp="1"/>
          </p:cNvSpPr>
          <p:nvPr>
            <p:ph idx="1"/>
          </p:nvPr>
        </p:nvSpPr>
        <p:spPr>
          <a:xfrm>
            <a:off x="865094" y="817095"/>
            <a:ext cx="10515600" cy="4351338"/>
          </a:xfrm>
        </p:spPr>
        <p:txBody>
          <a:bodyPr/>
          <a:lstStyle/>
          <a:p>
            <a:pPr marL="0" indent="0" algn="ctr">
              <a:buNone/>
            </a:pPr>
            <a:r>
              <a:rPr lang="fr-FR" dirty="0">
                <a:solidFill>
                  <a:schemeClr val="bg1"/>
                </a:solidFill>
              </a:rPr>
              <a:t>Dans ce test, vous allez devoir donner des notes à </a:t>
            </a:r>
            <a:r>
              <a:rPr lang="fr-FR" dirty="0" smtClean="0">
                <a:solidFill>
                  <a:schemeClr val="bg1"/>
                </a:solidFill>
              </a:rPr>
              <a:t>différents efforts. </a:t>
            </a:r>
            <a:r>
              <a:rPr lang="fr-FR" dirty="0">
                <a:solidFill>
                  <a:schemeClr val="bg1"/>
                </a:solidFill>
              </a:rPr>
              <a:t>Les efforts</a:t>
            </a:r>
            <a:r>
              <a:rPr lang="fr-FR" dirty="0" smtClean="0">
                <a:solidFill>
                  <a:schemeClr val="bg1"/>
                </a:solidFill>
              </a:rPr>
              <a:t> s'afficheront </a:t>
            </a:r>
            <a:r>
              <a:rPr lang="fr-FR" dirty="0">
                <a:solidFill>
                  <a:schemeClr val="bg1"/>
                </a:solidFill>
              </a:rPr>
              <a:t>à </a:t>
            </a:r>
            <a:r>
              <a:rPr lang="fr-FR" dirty="0" smtClean="0">
                <a:solidFill>
                  <a:schemeClr val="bg1"/>
                </a:solidFill>
              </a:rPr>
              <a:t>l'écran </a:t>
            </a:r>
            <a:r>
              <a:rPr lang="fr-FR" dirty="0">
                <a:solidFill>
                  <a:schemeClr val="bg1"/>
                </a:solidFill>
              </a:rPr>
              <a:t>sous forme de texte. En dessous, vous verrez une réglette. Vous devrez indiquer sur cette </a:t>
            </a:r>
            <a:r>
              <a:rPr lang="fr-FR" dirty="0" smtClean="0">
                <a:solidFill>
                  <a:schemeClr val="bg1"/>
                </a:solidFill>
              </a:rPr>
              <a:t>réglette </a:t>
            </a:r>
            <a:r>
              <a:rPr lang="fr-FR" b="1" i="1" dirty="0" smtClean="0">
                <a:solidFill>
                  <a:schemeClr val="bg1"/>
                </a:solidFill>
              </a:rPr>
              <a:t>A quel point cela </a:t>
            </a:r>
            <a:r>
              <a:rPr lang="fr-FR" b="1" i="1" dirty="0">
                <a:solidFill>
                  <a:schemeClr val="bg1"/>
                </a:solidFill>
              </a:rPr>
              <a:t>vous </a:t>
            </a:r>
            <a:r>
              <a:rPr lang="fr-FR" b="1" i="1" dirty="0" smtClean="0">
                <a:solidFill>
                  <a:schemeClr val="bg1"/>
                </a:solidFill>
              </a:rPr>
              <a:t>serait déplaisait d’effectuer cet effort</a:t>
            </a:r>
            <a:r>
              <a:rPr lang="fr-FR" dirty="0" smtClean="0">
                <a:solidFill>
                  <a:schemeClr val="bg1"/>
                </a:solidFill>
              </a:rPr>
              <a:t>. </a:t>
            </a:r>
            <a:r>
              <a:rPr lang="fr-FR" dirty="0">
                <a:solidFill>
                  <a:schemeClr val="bg1"/>
                </a:solidFill>
              </a:rPr>
              <a:t>Vous devrez déplacer un curseur sur la réglette, entre "Pas du tout" et "Beaucoup", a </a:t>
            </a:r>
            <a:r>
              <a:rPr lang="fr-FR" dirty="0" smtClean="0">
                <a:solidFill>
                  <a:schemeClr val="bg1"/>
                </a:solidFill>
              </a:rPr>
              <a:t>l'aide </a:t>
            </a:r>
            <a:r>
              <a:rPr lang="fr-FR" dirty="0">
                <a:solidFill>
                  <a:schemeClr val="bg1"/>
                </a:solidFill>
              </a:rPr>
              <a:t>des flèches droite et gauche du clavier. Lorsque vous êtes </a:t>
            </a:r>
            <a:r>
              <a:rPr lang="fr-FR" dirty="0" smtClean="0">
                <a:solidFill>
                  <a:schemeClr val="bg1"/>
                </a:solidFill>
              </a:rPr>
              <a:t>satisfait </a:t>
            </a:r>
            <a:r>
              <a:rPr lang="fr-FR" dirty="0">
                <a:solidFill>
                  <a:schemeClr val="bg1"/>
                </a:solidFill>
              </a:rPr>
              <a:t>de la position du curseur, passez à </a:t>
            </a:r>
            <a:r>
              <a:rPr lang="fr-FR" dirty="0" smtClean="0">
                <a:solidFill>
                  <a:schemeClr val="bg1"/>
                </a:solidFill>
              </a:rPr>
              <a:t>l'essai </a:t>
            </a:r>
            <a:r>
              <a:rPr lang="fr-FR" dirty="0">
                <a:solidFill>
                  <a:schemeClr val="bg1"/>
                </a:solidFill>
              </a:rPr>
              <a:t>suivant en appuyant sur la barre espace.</a:t>
            </a:r>
          </a:p>
          <a:p>
            <a:pPr marL="0" indent="0" algn="ctr">
              <a:buNone/>
            </a:pPr>
            <a:endParaRPr lang="fr-FR" dirty="0">
              <a:solidFill>
                <a:schemeClr val="bg1"/>
              </a:solidFill>
            </a:endParaRPr>
          </a:p>
        </p:txBody>
      </p:sp>
    </p:spTree>
    <p:extLst>
      <p:ext uri="{BB962C8B-B14F-4D97-AF65-F5344CB8AC3E}">
        <p14:creationId xmlns:p14="http://schemas.microsoft.com/office/powerpoint/2010/main" val="31088228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7" name="Espace réservé du contenu 6"/>
          <p:cNvSpPr>
            <a:spLocks noGrp="1"/>
          </p:cNvSpPr>
          <p:nvPr>
            <p:ph idx="1"/>
          </p:nvPr>
        </p:nvSpPr>
        <p:spPr>
          <a:xfrm>
            <a:off x="865094" y="817095"/>
            <a:ext cx="10515600" cy="4351338"/>
          </a:xfrm>
        </p:spPr>
        <p:txBody>
          <a:bodyPr/>
          <a:lstStyle/>
          <a:p>
            <a:pPr marL="0" indent="0" algn="ctr">
              <a:buNone/>
            </a:pPr>
            <a:r>
              <a:rPr lang="fr-FR" dirty="0">
                <a:solidFill>
                  <a:schemeClr val="bg1"/>
                </a:solidFill>
              </a:rPr>
              <a:t>Dans ce test, vous allez devoir choisir entre deux récompenses. Deux récompenses </a:t>
            </a:r>
            <a:r>
              <a:rPr lang="fr-FR" dirty="0" smtClean="0">
                <a:solidFill>
                  <a:schemeClr val="bg1"/>
                </a:solidFill>
              </a:rPr>
              <a:t>s'afficheront </a:t>
            </a:r>
            <a:r>
              <a:rPr lang="fr-FR" dirty="0">
                <a:solidFill>
                  <a:schemeClr val="bg1"/>
                </a:solidFill>
              </a:rPr>
              <a:t>à l'écran ; </a:t>
            </a:r>
            <a:r>
              <a:rPr lang="fr-FR" dirty="0" smtClean="0">
                <a:solidFill>
                  <a:schemeClr val="bg1"/>
                </a:solidFill>
              </a:rPr>
              <a:t>l'une </a:t>
            </a:r>
            <a:r>
              <a:rPr lang="fr-FR" dirty="0">
                <a:solidFill>
                  <a:schemeClr val="bg1"/>
                </a:solidFill>
              </a:rPr>
              <a:t>à droite, </a:t>
            </a:r>
            <a:r>
              <a:rPr lang="fr-FR" dirty="0" smtClean="0">
                <a:solidFill>
                  <a:schemeClr val="bg1"/>
                </a:solidFill>
              </a:rPr>
              <a:t>l'autre </a:t>
            </a:r>
            <a:r>
              <a:rPr lang="fr-FR" dirty="0">
                <a:solidFill>
                  <a:schemeClr val="bg1"/>
                </a:solidFill>
              </a:rPr>
              <a:t>à gauche.  </a:t>
            </a:r>
            <a:r>
              <a:rPr lang="fr-FR" b="1" i="1" dirty="0">
                <a:solidFill>
                  <a:schemeClr val="bg1"/>
                </a:solidFill>
              </a:rPr>
              <a:t>Vous devez choisir la récompense que vous préférez</a:t>
            </a:r>
            <a:r>
              <a:rPr lang="fr-FR" dirty="0">
                <a:solidFill>
                  <a:schemeClr val="bg1"/>
                </a:solidFill>
              </a:rPr>
              <a:t>. Pour faire un choix, appuyer sur la touche droite ou gauche du clavier. Lorsque vous avez fait un choix, vous passerez automatiquement à l'essai suivant.</a:t>
            </a:r>
          </a:p>
          <a:p>
            <a:pPr marL="0" indent="0" algn="ctr">
              <a:buNone/>
            </a:pPr>
            <a:endParaRPr lang="fr-FR" dirty="0">
              <a:solidFill>
                <a:schemeClr val="bg1"/>
              </a:solidFill>
            </a:endParaRPr>
          </a:p>
        </p:txBody>
      </p:sp>
    </p:spTree>
    <p:extLst>
      <p:ext uri="{BB962C8B-B14F-4D97-AF65-F5344CB8AC3E}">
        <p14:creationId xmlns:p14="http://schemas.microsoft.com/office/powerpoint/2010/main" val="13392573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7" name="Espace réservé du contenu 6"/>
          <p:cNvSpPr>
            <a:spLocks noGrp="1"/>
          </p:cNvSpPr>
          <p:nvPr>
            <p:ph idx="1"/>
          </p:nvPr>
        </p:nvSpPr>
        <p:spPr>
          <a:xfrm>
            <a:off x="865094" y="817095"/>
            <a:ext cx="10515600" cy="4351338"/>
          </a:xfrm>
        </p:spPr>
        <p:txBody>
          <a:bodyPr/>
          <a:lstStyle/>
          <a:p>
            <a:pPr marL="0" indent="0" algn="ctr">
              <a:buNone/>
            </a:pPr>
            <a:r>
              <a:rPr lang="fr-FR" dirty="0">
                <a:solidFill>
                  <a:schemeClr val="bg1"/>
                </a:solidFill>
              </a:rPr>
              <a:t>Dans ce test, vous allez devoir choisir entre deux récompenses. Deux récompenses </a:t>
            </a:r>
            <a:r>
              <a:rPr lang="fr-FR" dirty="0" smtClean="0">
                <a:solidFill>
                  <a:schemeClr val="bg1"/>
                </a:solidFill>
              </a:rPr>
              <a:t>s'afficheront </a:t>
            </a:r>
            <a:r>
              <a:rPr lang="fr-FR" dirty="0">
                <a:solidFill>
                  <a:schemeClr val="bg1"/>
                </a:solidFill>
              </a:rPr>
              <a:t>à l'écran ; </a:t>
            </a:r>
            <a:r>
              <a:rPr lang="fr-FR" dirty="0" smtClean="0">
                <a:solidFill>
                  <a:schemeClr val="bg1"/>
                </a:solidFill>
              </a:rPr>
              <a:t>l'une </a:t>
            </a:r>
            <a:r>
              <a:rPr lang="fr-FR" dirty="0">
                <a:solidFill>
                  <a:schemeClr val="bg1"/>
                </a:solidFill>
              </a:rPr>
              <a:t>à droite, </a:t>
            </a:r>
            <a:r>
              <a:rPr lang="fr-FR" dirty="0" smtClean="0">
                <a:solidFill>
                  <a:schemeClr val="bg1"/>
                </a:solidFill>
              </a:rPr>
              <a:t>l'autre </a:t>
            </a:r>
            <a:r>
              <a:rPr lang="fr-FR" dirty="0">
                <a:solidFill>
                  <a:schemeClr val="bg1"/>
                </a:solidFill>
              </a:rPr>
              <a:t>à gauche.  </a:t>
            </a:r>
            <a:r>
              <a:rPr lang="fr-FR" b="1" i="1" dirty="0">
                <a:solidFill>
                  <a:schemeClr val="bg1"/>
                </a:solidFill>
              </a:rPr>
              <a:t>Vous devez choisir la récompense que vous préférez</a:t>
            </a:r>
            <a:r>
              <a:rPr lang="fr-FR" dirty="0">
                <a:solidFill>
                  <a:schemeClr val="bg1"/>
                </a:solidFill>
              </a:rPr>
              <a:t>. Pour faire un choix, appuyer sur la touche droite ou gauche du clavier. Lorsque vous avez fait un choix, vous passerez automatiquement à l'essai suivant.</a:t>
            </a:r>
          </a:p>
          <a:p>
            <a:pPr marL="0" indent="0" algn="ctr">
              <a:buNone/>
            </a:pPr>
            <a:endParaRPr lang="fr-FR" dirty="0">
              <a:solidFill>
                <a:schemeClr val="bg1"/>
              </a:solidFill>
            </a:endParaRPr>
          </a:p>
        </p:txBody>
      </p:sp>
    </p:spTree>
    <p:extLst>
      <p:ext uri="{BB962C8B-B14F-4D97-AF65-F5344CB8AC3E}">
        <p14:creationId xmlns:p14="http://schemas.microsoft.com/office/powerpoint/2010/main" val="32101363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7" name="Espace réservé du contenu 6"/>
          <p:cNvSpPr>
            <a:spLocks noGrp="1"/>
          </p:cNvSpPr>
          <p:nvPr>
            <p:ph idx="1"/>
          </p:nvPr>
        </p:nvSpPr>
        <p:spPr>
          <a:xfrm>
            <a:off x="865094" y="817095"/>
            <a:ext cx="10515600" cy="4351338"/>
          </a:xfrm>
        </p:spPr>
        <p:txBody>
          <a:bodyPr/>
          <a:lstStyle/>
          <a:p>
            <a:pPr marL="0" indent="0" algn="ctr">
              <a:buNone/>
            </a:pPr>
            <a:r>
              <a:rPr lang="fr-FR" dirty="0">
                <a:solidFill>
                  <a:schemeClr val="bg1"/>
                </a:solidFill>
              </a:rPr>
              <a:t>Dans ce test, vous allez devoir choisir entre deux </a:t>
            </a:r>
            <a:r>
              <a:rPr lang="fr-FR" dirty="0" smtClean="0">
                <a:solidFill>
                  <a:schemeClr val="bg1"/>
                </a:solidFill>
              </a:rPr>
              <a:t>punitions. </a:t>
            </a:r>
            <a:r>
              <a:rPr lang="fr-FR" dirty="0">
                <a:solidFill>
                  <a:schemeClr val="bg1"/>
                </a:solidFill>
              </a:rPr>
              <a:t>Deux punitions </a:t>
            </a:r>
            <a:r>
              <a:rPr lang="fr-FR" dirty="0" smtClean="0">
                <a:solidFill>
                  <a:schemeClr val="bg1"/>
                </a:solidFill>
              </a:rPr>
              <a:t>s'afficheront </a:t>
            </a:r>
            <a:r>
              <a:rPr lang="fr-FR" dirty="0">
                <a:solidFill>
                  <a:schemeClr val="bg1"/>
                </a:solidFill>
              </a:rPr>
              <a:t>à l'écran ; </a:t>
            </a:r>
            <a:r>
              <a:rPr lang="fr-FR" dirty="0" smtClean="0">
                <a:solidFill>
                  <a:schemeClr val="bg1"/>
                </a:solidFill>
              </a:rPr>
              <a:t>l'une </a:t>
            </a:r>
            <a:r>
              <a:rPr lang="fr-FR" dirty="0">
                <a:solidFill>
                  <a:schemeClr val="bg1"/>
                </a:solidFill>
              </a:rPr>
              <a:t>à droite, </a:t>
            </a:r>
            <a:r>
              <a:rPr lang="fr-FR" dirty="0" smtClean="0">
                <a:solidFill>
                  <a:schemeClr val="bg1"/>
                </a:solidFill>
              </a:rPr>
              <a:t>l'autre </a:t>
            </a:r>
            <a:r>
              <a:rPr lang="fr-FR" dirty="0">
                <a:solidFill>
                  <a:schemeClr val="bg1"/>
                </a:solidFill>
              </a:rPr>
              <a:t>à gauche.  </a:t>
            </a:r>
            <a:r>
              <a:rPr lang="fr-FR" b="1" i="1" dirty="0">
                <a:solidFill>
                  <a:schemeClr val="bg1"/>
                </a:solidFill>
              </a:rPr>
              <a:t>Vous devez choisir la </a:t>
            </a:r>
            <a:r>
              <a:rPr lang="fr-FR" b="1" i="1" dirty="0" smtClean="0">
                <a:solidFill>
                  <a:schemeClr val="bg1"/>
                </a:solidFill>
              </a:rPr>
              <a:t>punition que </a:t>
            </a:r>
            <a:r>
              <a:rPr lang="fr-FR" b="1" i="1" dirty="0">
                <a:solidFill>
                  <a:schemeClr val="bg1"/>
                </a:solidFill>
              </a:rPr>
              <a:t>vous </a:t>
            </a:r>
            <a:r>
              <a:rPr lang="fr-FR" b="1" i="1" dirty="0" smtClean="0">
                <a:solidFill>
                  <a:schemeClr val="bg1"/>
                </a:solidFill>
              </a:rPr>
              <a:t>préférez (la moins déplaisante)</a:t>
            </a:r>
            <a:r>
              <a:rPr lang="fr-FR" dirty="0" smtClean="0">
                <a:solidFill>
                  <a:schemeClr val="bg1"/>
                </a:solidFill>
              </a:rPr>
              <a:t>. </a:t>
            </a:r>
            <a:r>
              <a:rPr lang="fr-FR" dirty="0">
                <a:solidFill>
                  <a:schemeClr val="bg1"/>
                </a:solidFill>
              </a:rPr>
              <a:t>Pour faire un choix, appuyer sur la touche droite ou gauche du clavier. Lorsque vous avez fait un choix, vous passerez automatiquement à l'essai suivant.</a:t>
            </a:r>
          </a:p>
          <a:p>
            <a:pPr marL="0" indent="0" algn="ctr">
              <a:buNone/>
            </a:pPr>
            <a:endParaRPr lang="fr-FR" dirty="0">
              <a:solidFill>
                <a:schemeClr val="bg1"/>
              </a:solidFill>
            </a:endParaRPr>
          </a:p>
        </p:txBody>
      </p:sp>
    </p:spTree>
    <p:extLst>
      <p:ext uri="{BB962C8B-B14F-4D97-AF65-F5344CB8AC3E}">
        <p14:creationId xmlns:p14="http://schemas.microsoft.com/office/powerpoint/2010/main" val="15101777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7" name="Espace réservé du contenu 6"/>
          <p:cNvSpPr>
            <a:spLocks noGrp="1"/>
          </p:cNvSpPr>
          <p:nvPr>
            <p:ph idx="1"/>
          </p:nvPr>
        </p:nvSpPr>
        <p:spPr>
          <a:xfrm>
            <a:off x="865094" y="817095"/>
            <a:ext cx="10515600" cy="4351338"/>
          </a:xfrm>
        </p:spPr>
        <p:txBody>
          <a:bodyPr/>
          <a:lstStyle/>
          <a:p>
            <a:pPr marL="0" indent="0" algn="ctr">
              <a:buNone/>
            </a:pPr>
            <a:r>
              <a:rPr lang="fr-FR" dirty="0">
                <a:solidFill>
                  <a:schemeClr val="bg1"/>
                </a:solidFill>
              </a:rPr>
              <a:t>Dans ce test, vous allez devoir choisir entre deux </a:t>
            </a:r>
            <a:r>
              <a:rPr lang="fr-FR" dirty="0" smtClean="0">
                <a:solidFill>
                  <a:schemeClr val="bg1"/>
                </a:solidFill>
              </a:rPr>
              <a:t>efforts. </a:t>
            </a:r>
            <a:r>
              <a:rPr lang="fr-FR" dirty="0">
                <a:solidFill>
                  <a:schemeClr val="bg1"/>
                </a:solidFill>
              </a:rPr>
              <a:t>Deux </a:t>
            </a:r>
            <a:r>
              <a:rPr lang="fr-FR" dirty="0" smtClean="0">
                <a:solidFill>
                  <a:schemeClr val="bg1"/>
                </a:solidFill>
              </a:rPr>
              <a:t>efforts s'afficheront </a:t>
            </a:r>
            <a:r>
              <a:rPr lang="fr-FR" dirty="0">
                <a:solidFill>
                  <a:schemeClr val="bg1"/>
                </a:solidFill>
              </a:rPr>
              <a:t>à l'écran ; </a:t>
            </a:r>
            <a:r>
              <a:rPr lang="fr-FR" dirty="0" smtClean="0">
                <a:solidFill>
                  <a:schemeClr val="bg1"/>
                </a:solidFill>
              </a:rPr>
              <a:t>l'un </a:t>
            </a:r>
            <a:r>
              <a:rPr lang="fr-FR" dirty="0">
                <a:solidFill>
                  <a:schemeClr val="bg1"/>
                </a:solidFill>
              </a:rPr>
              <a:t>à droite, </a:t>
            </a:r>
            <a:r>
              <a:rPr lang="fr-FR" dirty="0" smtClean="0">
                <a:solidFill>
                  <a:schemeClr val="bg1"/>
                </a:solidFill>
              </a:rPr>
              <a:t>l'autre </a:t>
            </a:r>
            <a:r>
              <a:rPr lang="fr-FR" dirty="0">
                <a:solidFill>
                  <a:schemeClr val="bg1"/>
                </a:solidFill>
              </a:rPr>
              <a:t>à gauche.  </a:t>
            </a:r>
            <a:r>
              <a:rPr lang="fr-FR" b="1" i="1" dirty="0">
                <a:solidFill>
                  <a:schemeClr val="bg1"/>
                </a:solidFill>
              </a:rPr>
              <a:t>Vous devez choisir </a:t>
            </a:r>
            <a:r>
              <a:rPr lang="fr-FR" b="1" i="1" dirty="0" smtClean="0">
                <a:solidFill>
                  <a:schemeClr val="bg1"/>
                </a:solidFill>
              </a:rPr>
              <a:t>l’effort que </a:t>
            </a:r>
            <a:r>
              <a:rPr lang="fr-FR" b="1" i="1" dirty="0">
                <a:solidFill>
                  <a:schemeClr val="bg1"/>
                </a:solidFill>
              </a:rPr>
              <a:t>vous </a:t>
            </a:r>
            <a:r>
              <a:rPr lang="fr-FR" b="1" i="1" dirty="0" smtClean="0">
                <a:solidFill>
                  <a:schemeClr val="bg1"/>
                </a:solidFill>
              </a:rPr>
              <a:t>préférez (le moins déplaisant)</a:t>
            </a:r>
            <a:r>
              <a:rPr lang="fr-FR" dirty="0" smtClean="0">
                <a:solidFill>
                  <a:schemeClr val="bg1"/>
                </a:solidFill>
              </a:rPr>
              <a:t>. </a:t>
            </a:r>
            <a:r>
              <a:rPr lang="fr-FR" dirty="0">
                <a:solidFill>
                  <a:schemeClr val="bg1"/>
                </a:solidFill>
              </a:rPr>
              <a:t>Pour faire un choix, appuyer sur la touche droite ou gauche du clavier. Lorsque vous avez fait un choix, vous passerez automatiquement à l'essai suivant.</a:t>
            </a:r>
          </a:p>
          <a:p>
            <a:pPr marL="0" indent="0" algn="ctr">
              <a:buNone/>
            </a:pPr>
            <a:endParaRPr lang="fr-FR" dirty="0">
              <a:solidFill>
                <a:schemeClr val="bg1"/>
              </a:solidFill>
            </a:endParaRPr>
          </a:p>
        </p:txBody>
      </p:sp>
    </p:spTree>
    <p:extLst>
      <p:ext uri="{BB962C8B-B14F-4D97-AF65-F5344CB8AC3E}">
        <p14:creationId xmlns:p14="http://schemas.microsoft.com/office/powerpoint/2010/main" val="29254132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7" name="Espace réservé du contenu 6"/>
          <p:cNvSpPr>
            <a:spLocks noGrp="1"/>
          </p:cNvSpPr>
          <p:nvPr>
            <p:ph idx="1"/>
          </p:nvPr>
        </p:nvSpPr>
        <p:spPr>
          <a:xfrm>
            <a:off x="865094" y="817095"/>
            <a:ext cx="10515600" cy="4351338"/>
          </a:xfrm>
        </p:spPr>
        <p:txBody>
          <a:bodyPr/>
          <a:lstStyle/>
          <a:p>
            <a:pPr marL="0" indent="0" algn="ctr">
              <a:buNone/>
            </a:pPr>
            <a:r>
              <a:rPr lang="fr-FR" dirty="0">
                <a:solidFill>
                  <a:schemeClr val="bg1"/>
                </a:solidFill>
              </a:rPr>
              <a:t>Dans ce test, une récompense et un effort s'afficheront ensemble à l'écran. La tâche consiste à décider si la récompense vaut la peine </a:t>
            </a:r>
            <a:r>
              <a:rPr lang="fr-FR" dirty="0" smtClean="0">
                <a:solidFill>
                  <a:schemeClr val="bg1"/>
                </a:solidFill>
              </a:rPr>
              <a:t>d'effectuer </a:t>
            </a:r>
            <a:r>
              <a:rPr lang="fr-FR" dirty="0">
                <a:solidFill>
                  <a:schemeClr val="bg1"/>
                </a:solidFill>
              </a:rPr>
              <a:t>l'effort. Vous pourrez répondre par "oui" ou "non". Pour faire un choix, appuyer sur la touche droite ou gauche du clavier. Lorsque vous avez fait un choix, vous passerez automatiquement à </a:t>
            </a:r>
            <a:r>
              <a:rPr lang="fr-FR" dirty="0" smtClean="0">
                <a:solidFill>
                  <a:schemeClr val="bg1"/>
                </a:solidFill>
              </a:rPr>
              <a:t>l'essai </a:t>
            </a:r>
            <a:r>
              <a:rPr lang="fr-FR" dirty="0">
                <a:solidFill>
                  <a:schemeClr val="bg1"/>
                </a:solidFill>
              </a:rPr>
              <a:t>suivant.</a:t>
            </a:r>
          </a:p>
          <a:p>
            <a:pPr marL="0" indent="0" algn="ctr">
              <a:buNone/>
            </a:pPr>
            <a:endParaRPr lang="fr-FR" dirty="0">
              <a:solidFill>
                <a:schemeClr val="bg1"/>
              </a:solidFill>
            </a:endParaRPr>
          </a:p>
        </p:txBody>
      </p:sp>
    </p:spTree>
    <p:extLst>
      <p:ext uri="{BB962C8B-B14F-4D97-AF65-F5344CB8AC3E}">
        <p14:creationId xmlns:p14="http://schemas.microsoft.com/office/powerpoint/2010/main" val="3275578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7" name="Espace réservé du contenu 6"/>
          <p:cNvSpPr>
            <a:spLocks noGrp="1"/>
          </p:cNvSpPr>
          <p:nvPr>
            <p:ph idx="1"/>
          </p:nvPr>
        </p:nvSpPr>
        <p:spPr>
          <a:xfrm>
            <a:off x="865094" y="817095"/>
            <a:ext cx="10515600" cy="4351338"/>
          </a:xfrm>
        </p:spPr>
        <p:txBody>
          <a:bodyPr/>
          <a:lstStyle/>
          <a:p>
            <a:pPr marL="0" indent="0" algn="ctr">
              <a:buNone/>
            </a:pPr>
            <a:r>
              <a:rPr lang="fr-FR" dirty="0">
                <a:solidFill>
                  <a:schemeClr val="bg1"/>
                </a:solidFill>
              </a:rPr>
              <a:t>Dans ce test, une punition et un effort s'afficheront ensemble à l'écran. La tâche consiste à décider si vous souhaitez effectuer l'effort pour éviter la punition. Vous pourrez répondre par "oui" ou "non". Pour faire un choix, appuyer sur la touche droite ou gauche du clavier. Lorsque vous avez fait un choix, vous passerez automatiquement à l''essai suivant.</a:t>
            </a:r>
          </a:p>
          <a:p>
            <a:pPr marL="0" indent="0" algn="ctr">
              <a:buNone/>
            </a:pPr>
            <a:endParaRPr lang="fr-FR" dirty="0">
              <a:solidFill>
                <a:schemeClr val="bg1"/>
              </a:solidFill>
            </a:endParaRPr>
          </a:p>
        </p:txBody>
      </p:sp>
    </p:spTree>
    <p:extLst>
      <p:ext uri="{BB962C8B-B14F-4D97-AF65-F5344CB8AC3E}">
        <p14:creationId xmlns:p14="http://schemas.microsoft.com/office/powerpoint/2010/main" val="17964779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7" name="Espace réservé du contenu 6"/>
          <p:cNvSpPr>
            <a:spLocks noGrp="1"/>
          </p:cNvSpPr>
          <p:nvPr>
            <p:ph idx="1"/>
          </p:nvPr>
        </p:nvSpPr>
        <p:spPr>
          <a:xfrm>
            <a:off x="865094" y="817095"/>
            <a:ext cx="10515600" cy="4351338"/>
          </a:xfrm>
        </p:spPr>
        <p:txBody>
          <a:bodyPr/>
          <a:lstStyle/>
          <a:p>
            <a:pPr marL="0" indent="0" algn="ctr">
              <a:buNone/>
            </a:pPr>
            <a:r>
              <a:rPr lang="fr-FR" dirty="0">
                <a:solidFill>
                  <a:schemeClr val="bg1"/>
                </a:solidFill>
              </a:rPr>
              <a:t>Dans ce test, une </a:t>
            </a:r>
            <a:r>
              <a:rPr lang="fr-FR" dirty="0" smtClean="0">
                <a:solidFill>
                  <a:schemeClr val="bg1"/>
                </a:solidFill>
              </a:rPr>
              <a:t>récompense </a:t>
            </a:r>
            <a:r>
              <a:rPr lang="fr-FR" dirty="0">
                <a:solidFill>
                  <a:schemeClr val="bg1"/>
                </a:solidFill>
              </a:rPr>
              <a:t>et </a:t>
            </a:r>
            <a:r>
              <a:rPr lang="fr-FR" dirty="0" smtClean="0">
                <a:solidFill>
                  <a:schemeClr val="bg1"/>
                </a:solidFill>
              </a:rPr>
              <a:t>une punition s'afficheront </a:t>
            </a:r>
            <a:r>
              <a:rPr lang="fr-FR" dirty="0">
                <a:solidFill>
                  <a:schemeClr val="bg1"/>
                </a:solidFill>
              </a:rPr>
              <a:t>ensemble à l'écran. La tâche consiste à décider si vous souhaitez </a:t>
            </a:r>
            <a:r>
              <a:rPr lang="fr-FR" dirty="0" smtClean="0">
                <a:solidFill>
                  <a:schemeClr val="bg1"/>
                </a:solidFill>
              </a:rPr>
              <a:t>subir la punition pour obtenir la récompense. </a:t>
            </a:r>
            <a:r>
              <a:rPr lang="fr-FR" dirty="0">
                <a:solidFill>
                  <a:schemeClr val="bg1"/>
                </a:solidFill>
              </a:rPr>
              <a:t>Vous pourrez répondre par "oui" ou "non". Pour faire un choix, appuyer sur la touche droite ou gauche du clavier. Lorsque vous avez fait un choix, vous passerez automatiquement à l''essai suivant.</a:t>
            </a:r>
          </a:p>
          <a:p>
            <a:pPr marL="0" indent="0" algn="ctr">
              <a:buNone/>
            </a:pPr>
            <a:endParaRPr lang="fr-FR" dirty="0">
              <a:solidFill>
                <a:schemeClr val="bg1"/>
              </a:solidFill>
            </a:endParaRPr>
          </a:p>
        </p:txBody>
      </p:sp>
    </p:spTree>
    <p:extLst>
      <p:ext uri="{BB962C8B-B14F-4D97-AF65-F5344CB8AC3E}">
        <p14:creationId xmlns:p14="http://schemas.microsoft.com/office/powerpoint/2010/main" val="36569914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7" name="Espace réservé du contenu 6"/>
          <p:cNvSpPr>
            <a:spLocks noGrp="1"/>
          </p:cNvSpPr>
          <p:nvPr>
            <p:ph idx="1"/>
          </p:nvPr>
        </p:nvSpPr>
        <p:spPr/>
        <p:txBody>
          <a:bodyPr/>
          <a:lstStyle/>
          <a:p>
            <a:pPr marL="0" indent="0" algn="ctr">
              <a:buNone/>
            </a:pPr>
            <a:r>
              <a:rPr lang="fr-FR" dirty="0">
                <a:solidFill>
                  <a:schemeClr val="bg1"/>
                </a:solidFill>
              </a:rPr>
              <a:t>Dans ce test, vous allez devoir choisir entre deux récompenses, proposées à des délais différents. Deux récompenses </a:t>
            </a:r>
            <a:r>
              <a:rPr lang="fr-FR" dirty="0" smtClean="0">
                <a:solidFill>
                  <a:schemeClr val="bg1"/>
                </a:solidFill>
              </a:rPr>
              <a:t>s'afficheront </a:t>
            </a:r>
            <a:r>
              <a:rPr lang="fr-FR" dirty="0">
                <a:solidFill>
                  <a:schemeClr val="bg1"/>
                </a:solidFill>
              </a:rPr>
              <a:t>à l'écran, l'une à droite, </a:t>
            </a:r>
            <a:r>
              <a:rPr lang="fr-FR" dirty="0" smtClean="0">
                <a:solidFill>
                  <a:schemeClr val="bg1"/>
                </a:solidFill>
              </a:rPr>
              <a:t>l'autre </a:t>
            </a:r>
            <a:r>
              <a:rPr lang="fr-FR" dirty="0">
                <a:solidFill>
                  <a:schemeClr val="bg1"/>
                </a:solidFill>
              </a:rPr>
              <a:t>à gauche. </a:t>
            </a:r>
            <a:r>
              <a:rPr lang="fr-FR" dirty="0" smtClean="0">
                <a:solidFill>
                  <a:schemeClr val="bg1"/>
                </a:solidFill>
              </a:rPr>
              <a:t>L'une </a:t>
            </a:r>
            <a:r>
              <a:rPr lang="fr-FR" dirty="0">
                <a:solidFill>
                  <a:schemeClr val="bg1"/>
                </a:solidFill>
              </a:rPr>
              <a:t>peut être gagnée immédiatement, et l'autre plus tard. </a:t>
            </a:r>
          </a:p>
          <a:p>
            <a:endParaRPr lang="fr-FR" dirty="0">
              <a:solidFill>
                <a:schemeClr val="bg1"/>
              </a:solidFill>
            </a:endParaRPr>
          </a:p>
        </p:txBody>
      </p:sp>
    </p:spTree>
    <p:extLst>
      <p:ext uri="{BB962C8B-B14F-4D97-AF65-F5344CB8AC3E}">
        <p14:creationId xmlns:p14="http://schemas.microsoft.com/office/powerpoint/2010/main" val="39443922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7" name="Espace réservé du contenu 6"/>
          <p:cNvSpPr>
            <a:spLocks noGrp="1"/>
          </p:cNvSpPr>
          <p:nvPr>
            <p:ph idx="1"/>
          </p:nvPr>
        </p:nvSpPr>
        <p:spPr/>
        <p:txBody>
          <a:bodyPr/>
          <a:lstStyle/>
          <a:p>
            <a:pPr marL="0" indent="0" algn="ctr">
              <a:buNone/>
            </a:pPr>
            <a:r>
              <a:rPr lang="fr-FR" dirty="0">
                <a:solidFill>
                  <a:schemeClr val="bg1"/>
                </a:solidFill>
              </a:rPr>
              <a:t>Dans ce test, vous allez devoir choisir entre deux récompenses, proposées à des délais différents. Deux récompenses </a:t>
            </a:r>
            <a:r>
              <a:rPr lang="fr-FR" dirty="0" smtClean="0">
                <a:solidFill>
                  <a:schemeClr val="bg1"/>
                </a:solidFill>
              </a:rPr>
              <a:t>s'afficheront </a:t>
            </a:r>
            <a:r>
              <a:rPr lang="fr-FR" dirty="0">
                <a:solidFill>
                  <a:schemeClr val="bg1"/>
                </a:solidFill>
              </a:rPr>
              <a:t>à l'écran, l'une à droite, </a:t>
            </a:r>
            <a:r>
              <a:rPr lang="fr-FR" dirty="0" smtClean="0">
                <a:solidFill>
                  <a:schemeClr val="bg1"/>
                </a:solidFill>
              </a:rPr>
              <a:t>l'autre </a:t>
            </a:r>
            <a:r>
              <a:rPr lang="fr-FR" dirty="0">
                <a:solidFill>
                  <a:schemeClr val="bg1"/>
                </a:solidFill>
              </a:rPr>
              <a:t>à gauche. </a:t>
            </a:r>
            <a:r>
              <a:rPr lang="fr-FR" dirty="0" smtClean="0">
                <a:solidFill>
                  <a:schemeClr val="bg1"/>
                </a:solidFill>
              </a:rPr>
              <a:t>L'une </a:t>
            </a:r>
            <a:r>
              <a:rPr lang="fr-FR" dirty="0">
                <a:solidFill>
                  <a:schemeClr val="bg1"/>
                </a:solidFill>
              </a:rPr>
              <a:t>peut être gagnée immédiatement, et l'autre plus tard. </a:t>
            </a:r>
          </a:p>
          <a:p>
            <a:endParaRPr lang="fr-FR" dirty="0">
              <a:solidFill>
                <a:schemeClr val="bg1"/>
              </a:solidFill>
            </a:endParaRPr>
          </a:p>
        </p:txBody>
      </p:sp>
    </p:spTree>
    <p:extLst>
      <p:ext uri="{BB962C8B-B14F-4D97-AF65-F5344CB8AC3E}">
        <p14:creationId xmlns:p14="http://schemas.microsoft.com/office/powerpoint/2010/main" val="2491750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7" name="Espace réservé du contenu 6"/>
          <p:cNvSpPr>
            <a:spLocks noGrp="1"/>
          </p:cNvSpPr>
          <p:nvPr>
            <p:ph idx="1"/>
          </p:nvPr>
        </p:nvSpPr>
        <p:spPr/>
        <p:txBody>
          <a:bodyPr/>
          <a:lstStyle/>
          <a:p>
            <a:pPr marL="0" indent="0" algn="ctr">
              <a:buNone/>
            </a:pPr>
            <a:r>
              <a:rPr lang="fr-FR" dirty="0">
                <a:solidFill>
                  <a:schemeClr val="bg1"/>
                </a:solidFill>
              </a:rPr>
              <a:t>Dans ce test, vous allez devoir choisir entre deux punitions, proposées à des délais différents. Deux punitions s'afficheront à l'écran, l'une à droite, </a:t>
            </a:r>
            <a:r>
              <a:rPr lang="fr-FR" dirty="0" smtClean="0">
                <a:solidFill>
                  <a:schemeClr val="bg1"/>
                </a:solidFill>
              </a:rPr>
              <a:t>l'autre </a:t>
            </a:r>
            <a:r>
              <a:rPr lang="fr-FR" dirty="0">
                <a:solidFill>
                  <a:schemeClr val="bg1"/>
                </a:solidFill>
              </a:rPr>
              <a:t>à gauche. L'une doit être subie maintenant, tandis que l'autre peut être subie quand vous voulez avant la date indiquée.</a:t>
            </a:r>
          </a:p>
        </p:txBody>
      </p:sp>
    </p:spTree>
    <p:extLst>
      <p:ext uri="{BB962C8B-B14F-4D97-AF65-F5344CB8AC3E}">
        <p14:creationId xmlns:p14="http://schemas.microsoft.com/office/powerpoint/2010/main" val="29133016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7" name="Espace réservé du contenu 6"/>
          <p:cNvSpPr>
            <a:spLocks noGrp="1"/>
          </p:cNvSpPr>
          <p:nvPr>
            <p:ph idx="1"/>
          </p:nvPr>
        </p:nvSpPr>
        <p:spPr/>
        <p:txBody>
          <a:bodyPr/>
          <a:lstStyle/>
          <a:p>
            <a:pPr marL="0" indent="0" algn="ctr">
              <a:buNone/>
            </a:pPr>
            <a:r>
              <a:rPr lang="fr-FR" dirty="0">
                <a:solidFill>
                  <a:schemeClr val="bg1"/>
                </a:solidFill>
              </a:rPr>
              <a:t>Dans ce test, vous allez devoir choisir entre deux efforts, proposés à des délais différents. Deux efforts s'afficheront à l'écran, l'un à droite, </a:t>
            </a:r>
            <a:r>
              <a:rPr lang="fr-FR" dirty="0" smtClean="0">
                <a:solidFill>
                  <a:schemeClr val="bg1"/>
                </a:solidFill>
              </a:rPr>
              <a:t>l'autre </a:t>
            </a:r>
            <a:r>
              <a:rPr lang="fr-FR" dirty="0">
                <a:solidFill>
                  <a:schemeClr val="bg1"/>
                </a:solidFill>
              </a:rPr>
              <a:t>à gauche. L'un doit être effectué maintenant, tandis que l'autre peut être réalisé quand vous voulez avant la date indiquée. </a:t>
            </a:r>
          </a:p>
        </p:txBody>
      </p:sp>
    </p:spTree>
    <p:extLst>
      <p:ext uri="{BB962C8B-B14F-4D97-AF65-F5344CB8AC3E}">
        <p14:creationId xmlns:p14="http://schemas.microsoft.com/office/powerpoint/2010/main" val="819714647"/>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89</TotalTime>
  <Words>866</Words>
  <Application>Microsoft Office PowerPoint</Application>
  <PresentationFormat>Grand écran</PresentationFormat>
  <Paragraphs>15</Paragraphs>
  <Slides>15</Slides>
  <Notes>0</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15</vt:i4>
      </vt:variant>
    </vt:vector>
  </HeadingPairs>
  <TitlesOfParts>
    <vt:vector size="19" baseType="lpstr">
      <vt:lpstr>Arial</vt:lpstr>
      <vt:lpstr>Calibri</vt:lpstr>
      <vt:lpstr>Calibri Light</vt:lpstr>
      <vt:lpstr>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BORDERIES Nicolas</dc:creator>
  <cp:lastModifiedBy>BORDERIES Nicolas</cp:lastModifiedBy>
  <cp:revision>16</cp:revision>
  <dcterms:created xsi:type="dcterms:W3CDTF">2016-02-22T16:56:32Z</dcterms:created>
  <dcterms:modified xsi:type="dcterms:W3CDTF">2017-02-28T10:56:40Z</dcterms:modified>
</cp:coreProperties>
</file>