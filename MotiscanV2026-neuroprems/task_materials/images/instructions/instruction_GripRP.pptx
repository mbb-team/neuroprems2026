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4" r:id="rId2"/>
    <p:sldId id="265" r:id="rId3"/>
    <p:sldId id="257" r:id="rId4"/>
    <p:sldId id="258" r:id="rId5"/>
    <p:sldId id="259" r:id="rId6"/>
    <p:sldId id="263" r:id="rId7"/>
    <p:sldId id="260" r:id="rId8"/>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smtClean="0"/>
              <a:t>Modifiez le style du titre</a:t>
            </a:r>
            <a:endParaRPr lang="fr-F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smtClean="0"/>
              <a:t>Modifiez le style des sous-titres du masque</a:t>
            </a:r>
            <a:endParaRPr lang="fr-FR"/>
          </a:p>
        </p:txBody>
      </p:sp>
      <p:sp>
        <p:nvSpPr>
          <p:cNvPr id="4" name="Espace réservé de la date 3"/>
          <p:cNvSpPr>
            <a:spLocks noGrp="1"/>
          </p:cNvSpPr>
          <p:nvPr>
            <p:ph type="dt" sz="half" idx="10"/>
          </p:nvPr>
        </p:nvSpPr>
        <p:spPr/>
        <p:txBody>
          <a:bodyPr/>
          <a:lstStyle/>
          <a:p>
            <a:fld id="{C35BF099-A397-407A-B1DE-0E0D20723708}" type="datetimeFigureOut">
              <a:rPr lang="fr-FR" smtClean="0"/>
              <a:t>10/03/2020</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AB9FFCA3-E447-44AD-A9E8-46D5B4D12EC7}" type="slidenum">
              <a:rPr lang="fr-FR" smtClean="0"/>
              <a:t>‹N°›</a:t>
            </a:fld>
            <a:endParaRPr lang="fr-FR"/>
          </a:p>
        </p:txBody>
      </p:sp>
    </p:spTree>
    <p:extLst>
      <p:ext uri="{BB962C8B-B14F-4D97-AF65-F5344CB8AC3E}">
        <p14:creationId xmlns:p14="http://schemas.microsoft.com/office/powerpoint/2010/main" val="21506496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idx="1"/>
          </p:nvPr>
        </p:nvSpPr>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C35BF099-A397-407A-B1DE-0E0D20723708}" type="datetimeFigureOut">
              <a:rPr lang="fr-FR" smtClean="0"/>
              <a:t>10/03/2020</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AB9FFCA3-E447-44AD-A9E8-46D5B4D12EC7}" type="slidenum">
              <a:rPr lang="fr-FR" smtClean="0"/>
              <a:t>‹N°›</a:t>
            </a:fld>
            <a:endParaRPr lang="fr-FR"/>
          </a:p>
        </p:txBody>
      </p:sp>
    </p:spTree>
    <p:extLst>
      <p:ext uri="{BB962C8B-B14F-4D97-AF65-F5344CB8AC3E}">
        <p14:creationId xmlns:p14="http://schemas.microsoft.com/office/powerpoint/2010/main" val="30828986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smtClean="0"/>
              <a:t>Modifiez le style du titre</a:t>
            </a:r>
            <a:endParaRPr lang="fr-F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smtClean="0"/>
              <a:t>Modifiez les styles du texte du masque</a:t>
            </a:r>
          </a:p>
        </p:txBody>
      </p:sp>
      <p:sp>
        <p:nvSpPr>
          <p:cNvPr id="4" name="Espace réservé de la date 3"/>
          <p:cNvSpPr>
            <a:spLocks noGrp="1"/>
          </p:cNvSpPr>
          <p:nvPr>
            <p:ph type="dt" sz="half" idx="10"/>
          </p:nvPr>
        </p:nvSpPr>
        <p:spPr/>
        <p:txBody>
          <a:bodyPr/>
          <a:lstStyle/>
          <a:p>
            <a:fld id="{C35BF099-A397-407A-B1DE-0E0D20723708}" type="datetimeFigureOut">
              <a:rPr lang="fr-FR" smtClean="0"/>
              <a:t>10/03/2020</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AB9FFCA3-E447-44AD-A9E8-46D5B4D12EC7}" type="slidenum">
              <a:rPr lang="fr-FR" smtClean="0"/>
              <a:t>‹N°›</a:t>
            </a:fld>
            <a:endParaRPr lang="fr-FR"/>
          </a:p>
        </p:txBody>
      </p:sp>
    </p:spTree>
    <p:extLst>
      <p:ext uri="{BB962C8B-B14F-4D97-AF65-F5344CB8AC3E}">
        <p14:creationId xmlns:p14="http://schemas.microsoft.com/office/powerpoint/2010/main" val="30193987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sz="half" idx="1"/>
          </p:nvPr>
        </p:nvSpPr>
        <p:spPr>
          <a:xfrm>
            <a:off x="838200" y="1825625"/>
            <a:ext cx="5181600" cy="4351338"/>
          </a:xfrm>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half" idx="2"/>
          </p:nvPr>
        </p:nvSpPr>
        <p:spPr>
          <a:xfrm>
            <a:off x="6172200" y="1825625"/>
            <a:ext cx="5181600" cy="4351338"/>
          </a:xfrm>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e la date 4"/>
          <p:cNvSpPr>
            <a:spLocks noGrp="1"/>
          </p:cNvSpPr>
          <p:nvPr>
            <p:ph type="dt" sz="half" idx="10"/>
          </p:nvPr>
        </p:nvSpPr>
        <p:spPr/>
        <p:txBody>
          <a:bodyPr/>
          <a:lstStyle/>
          <a:p>
            <a:fld id="{C35BF099-A397-407A-B1DE-0E0D20723708}" type="datetimeFigureOut">
              <a:rPr lang="fr-FR" smtClean="0"/>
              <a:t>10/03/2020</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AB9FFCA3-E447-44AD-A9E8-46D5B4D12EC7}" type="slidenum">
              <a:rPr lang="fr-FR" smtClean="0"/>
              <a:t>‹N°›</a:t>
            </a:fld>
            <a:endParaRPr lang="fr-FR"/>
          </a:p>
        </p:txBody>
      </p:sp>
    </p:spTree>
    <p:extLst>
      <p:ext uri="{BB962C8B-B14F-4D97-AF65-F5344CB8AC3E}">
        <p14:creationId xmlns:p14="http://schemas.microsoft.com/office/powerpoint/2010/main" val="19297545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smtClean="0"/>
              <a:t>Modifiez le style du titre</a:t>
            </a:r>
            <a:endParaRPr lang="fr-F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7" name="Espace réservé de la date 6"/>
          <p:cNvSpPr>
            <a:spLocks noGrp="1"/>
          </p:cNvSpPr>
          <p:nvPr>
            <p:ph type="dt" sz="half" idx="10"/>
          </p:nvPr>
        </p:nvSpPr>
        <p:spPr/>
        <p:txBody>
          <a:bodyPr/>
          <a:lstStyle/>
          <a:p>
            <a:fld id="{C35BF099-A397-407A-B1DE-0E0D20723708}" type="datetimeFigureOut">
              <a:rPr lang="fr-FR" smtClean="0"/>
              <a:t>10/03/2020</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AB9FFCA3-E447-44AD-A9E8-46D5B4D12EC7}" type="slidenum">
              <a:rPr lang="fr-FR" smtClean="0"/>
              <a:t>‹N°›</a:t>
            </a:fld>
            <a:endParaRPr lang="fr-FR"/>
          </a:p>
        </p:txBody>
      </p:sp>
    </p:spTree>
    <p:extLst>
      <p:ext uri="{BB962C8B-B14F-4D97-AF65-F5344CB8AC3E}">
        <p14:creationId xmlns:p14="http://schemas.microsoft.com/office/powerpoint/2010/main" val="7416669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e la date 2"/>
          <p:cNvSpPr>
            <a:spLocks noGrp="1"/>
          </p:cNvSpPr>
          <p:nvPr>
            <p:ph type="dt" sz="half" idx="10"/>
          </p:nvPr>
        </p:nvSpPr>
        <p:spPr/>
        <p:txBody>
          <a:bodyPr/>
          <a:lstStyle/>
          <a:p>
            <a:fld id="{C35BF099-A397-407A-B1DE-0E0D20723708}" type="datetimeFigureOut">
              <a:rPr lang="fr-FR" smtClean="0"/>
              <a:t>10/03/2020</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AB9FFCA3-E447-44AD-A9E8-46D5B4D12EC7}" type="slidenum">
              <a:rPr lang="fr-FR" smtClean="0"/>
              <a:t>‹N°›</a:t>
            </a:fld>
            <a:endParaRPr lang="fr-FR"/>
          </a:p>
        </p:txBody>
      </p:sp>
    </p:spTree>
    <p:extLst>
      <p:ext uri="{BB962C8B-B14F-4D97-AF65-F5344CB8AC3E}">
        <p14:creationId xmlns:p14="http://schemas.microsoft.com/office/powerpoint/2010/main" val="24063516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C35BF099-A397-407A-B1DE-0E0D20723708}" type="datetimeFigureOut">
              <a:rPr lang="fr-FR" smtClean="0"/>
              <a:t>10/03/2020</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AB9FFCA3-E447-44AD-A9E8-46D5B4D12EC7}" type="slidenum">
              <a:rPr lang="fr-FR" smtClean="0"/>
              <a:t>‹N°›</a:t>
            </a:fld>
            <a:endParaRPr lang="fr-FR"/>
          </a:p>
        </p:txBody>
      </p:sp>
    </p:spTree>
    <p:extLst>
      <p:ext uri="{BB962C8B-B14F-4D97-AF65-F5344CB8AC3E}">
        <p14:creationId xmlns:p14="http://schemas.microsoft.com/office/powerpoint/2010/main" val="2121534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smtClean="0"/>
              <a:t>Modifiez le style du titre</a:t>
            </a:r>
            <a:endParaRPr lang="fr-F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Modifiez les styles du texte du masque</a:t>
            </a:r>
          </a:p>
        </p:txBody>
      </p:sp>
      <p:sp>
        <p:nvSpPr>
          <p:cNvPr id="5" name="Espace réservé de la date 4"/>
          <p:cNvSpPr>
            <a:spLocks noGrp="1"/>
          </p:cNvSpPr>
          <p:nvPr>
            <p:ph type="dt" sz="half" idx="10"/>
          </p:nvPr>
        </p:nvSpPr>
        <p:spPr/>
        <p:txBody>
          <a:bodyPr/>
          <a:lstStyle/>
          <a:p>
            <a:fld id="{C35BF099-A397-407A-B1DE-0E0D20723708}" type="datetimeFigureOut">
              <a:rPr lang="fr-FR" smtClean="0"/>
              <a:t>10/03/2020</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AB9FFCA3-E447-44AD-A9E8-46D5B4D12EC7}" type="slidenum">
              <a:rPr lang="fr-FR" smtClean="0"/>
              <a:t>‹N°›</a:t>
            </a:fld>
            <a:endParaRPr lang="fr-FR"/>
          </a:p>
        </p:txBody>
      </p:sp>
    </p:spTree>
    <p:extLst>
      <p:ext uri="{BB962C8B-B14F-4D97-AF65-F5344CB8AC3E}">
        <p14:creationId xmlns:p14="http://schemas.microsoft.com/office/powerpoint/2010/main" val="3005849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smtClean="0"/>
              <a:t>Modifiez le style du titre</a:t>
            </a:r>
            <a:endParaRPr lang="fr-F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Modifiez les styles du texte du masque</a:t>
            </a:r>
          </a:p>
        </p:txBody>
      </p:sp>
      <p:sp>
        <p:nvSpPr>
          <p:cNvPr id="5" name="Espace réservé de la date 4"/>
          <p:cNvSpPr>
            <a:spLocks noGrp="1"/>
          </p:cNvSpPr>
          <p:nvPr>
            <p:ph type="dt" sz="half" idx="10"/>
          </p:nvPr>
        </p:nvSpPr>
        <p:spPr/>
        <p:txBody>
          <a:bodyPr/>
          <a:lstStyle/>
          <a:p>
            <a:fld id="{C35BF099-A397-407A-B1DE-0E0D20723708}" type="datetimeFigureOut">
              <a:rPr lang="fr-FR" smtClean="0"/>
              <a:t>10/03/2020</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AB9FFCA3-E447-44AD-A9E8-46D5B4D12EC7}" type="slidenum">
              <a:rPr lang="fr-FR" smtClean="0"/>
              <a:t>‹N°›</a:t>
            </a:fld>
            <a:endParaRPr lang="fr-FR"/>
          </a:p>
        </p:txBody>
      </p:sp>
    </p:spTree>
    <p:extLst>
      <p:ext uri="{BB962C8B-B14F-4D97-AF65-F5344CB8AC3E}">
        <p14:creationId xmlns:p14="http://schemas.microsoft.com/office/powerpoint/2010/main" val="4269399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texte vertical 2"/>
          <p:cNvSpPr>
            <a:spLocks noGrp="1"/>
          </p:cNvSpPr>
          <p:nvPr>
            <p:ph type="body" orient="vert" idx="1"/>
          </p:nvPr>
        </p:nvSpPr>
        <p:spPr/>
        <p:txBody>
          <a:bodyPr vert="eaVert"/>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C35BF099-A397-407A-B1DE-0E0D20723708}" type="datetimeFigureOut">
              <a:rPr lang="fr-FR" smtClean="0"/>
              <a:t>10/03/2020</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AB9FFCA3-E447-44AD-A9E8-46D5B4D12EC7}" type="slidenum">
              <a:rPr lang="fr-FR" smtClean="0"/>
              <a:t>‹N°›</a:t>
            </a:fld>
            <a:endParaRPr lang="fr-FR"/>
          </a:p>
        </p:txBody>
      </p:sp>
    </p:spTree>
    <p:extLst>
      <p:ext uri="{BB962C8B-B14F-4D97-AF65-F5344CB8AC3E}">
        <p14:creationId xmlns:p14="http://schemas.microsoft.com/office/powerpoint/2010/main" val="22970526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smtClean="0"/>
              <a:t>Modifiez le style du titre</a:t>
            </a:r>
            <a:endParaRPr lang="fr-F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C35BF099-A397-407A-B1DE-0E0D20723708}" type="datetimeFigureOut">
              <a:rPr lang="fr-FR" smtClean="0"/>
              <a:t>10/03/2020</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AB9FFCA3-E447-44AD-A9E8-46D5B4D12EC7}" type="slidenum">
              <a:rPr lang="fr-FR" smtClean="0"/>
              <a:t>‹N°›</a:t>
            </a:fld>
            <a:endParaRPr lang="fr-FR"/>
          </a:p>
        </p:txBody>
      </p:sp>
    </p:spTree>
    <p:extLst>
      <p:ext uri="{BB962C8B-B14F-4D97-AF65-F5344CB8AC3E}">
        <p14:creationId xmlns:p14="http://schemas.microsoft.com/office/powerpoint/2010/main" val="40745775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smtClean="0"/>
              <a:t>Modifiez le style du titre</a:t>
            </a:r>
            <a:endParaRPr lang="fr-F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35BF099-A397-407A-B1DE-0E0D20723708}" type="datetimeFigureOut">
              <a:rPr lang="fr-FR" smtClean="0"/>
              <a:t>10/03/2020</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B9FFCA3-E447-44AD-A9E8-46D5B4D12EC7}" type="slidenum">
              <a:rPr lang="fr-FR" smtClean="0"/>
              <a:t>‹N°›</a:t>
            </a:fld>
            <a:endParaRPr lang="fr-FR"/>
          </a:p>
        </p:txBody>
      </p:sp>
    </p:spTree>
    <p:extLst>
      <p:ext uri="{BB962C8B-B14F-4D97-AF65-F5344CB8AC3E}">
        <p14:creationId xmlns:p14="http://schemas.microsoft.com/office/powerpoint/2010/main" val="34765566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7" name="Espace réservé du contenu 6"/>
          <p:cNvSpPr>
            <a:spLocks noGrp="1"/>
          </p:cNvSpPr>
          <p:nvPr>
            <p:ph idx="1"/>
          </p:nvPr>
        </p:nvSpPr>
        <p:spPr>
          <a:xfrm>
            <a:off x="1026338" y="2656555"/>
            <a:ext cx="10300689" cy="1841304"/>
          </a:xfrm>
        </p:spPr>
        <p:txBody>
          <a:bodyPr>
            <a:noAutofit/>
          </a:bodyPr>
          <a:lstStyle/>
          <a:p>
            <a:pPr marL="0" indent="0">
              <a:buNone/>
            </a:pPr>
            <a:r>
              <a:rPr lang="fr-FR" dirty="0" smtClean="0">
                <a:solidFill>
                  <a:schemeClr val="bg1"/>
                </a:solidFill>
              </a:rPr>
              <a:t>Dans ce test,  vous </a:t>
            </a:r>
            <a:r>
              <a:rPr lang="fr-FR" smtClean="0">
                <a:solidFill>
                  <a:schemeClr val="bg1"/>
                </a:solidFill>
              </a:rPr>
              <a:t>devez </a:t>
            </a:r>
            <a:r>
              <a:rPr lang="fr-FR" smtClean="0">
                <a:solidFill>
                  <a:schemeClr val="bg1"/>
                </a:solidFill>
              </a:rPr>
              <a:t>serrer </a:t>
            </a:r>
            <a:r>
              <a:rPr lang="fr-FR" dirty="0" smtClean="0">
                <a:solidFill>
                  <a:schemeClr val="bg1"/>
                </a:solidFill>
              </a:rPr>
              <a:t>une poignée qui mesure votre force exercée. </a:t>
            </a:r>
            <a:r>
              <a:rPr lang="fr-FR" dirty="0">
                <a:solidFill>
                  <a:schemeClr val="bg1"/>
                </a:solidFill>
              </a:rPr>
              <a:t> </a:t>
            </a:r>
            <a:r>
              <a:rPr lang="fr-FR" b="1" u="sng" dirty="0" smtClean="0">
                <a:solidFill>
                  <a:schemeClr val="bg1"/>
                </a:solidFill>
              </a:rPr>
              <a:t>Vous devez </a:t>
            </a:r>
            <a:r>
              <a:rPr lang="fr-FR" b="1" u="sng" dirty="0" smtClean="0">
                <a:solidFill>
                  <a:schemeClr val="bg1"/>
                </a:solidFill>
              </a:rPr>
              <a:t>serrer </a:t>
            </a:r>
            <a:r>
              <a:rPr lang="fr-FR" b="1" u="sng" dirty="0" smtClean="0">
                <a:solidFill>
                  <a:schemeClr val="bg1"/>
                </a:solidFill>
              </a:rPr>
              <a:t>le plus fort possible la poignée</a:t>
            </a:r>
            <a:r>
              <a:rPr lang="fr-FR" dirty="0" smtClean="0">
                <a:solidFill>
                  <a:schemeClr val="bg1"/>
                </a:solidFill>
              </a:rPr>
              <a:t>. C’est la force maximale qui compte et non pas la durée de l’effort. Vous aurez trois essais pour réussir le plus fort score !</a:t>
            </a:r>
            <a:endParaRPr lang="fr-FR" dirty="0">
              <a:solidFill>
                <a:schemeClr val="bg1"/>
              </a:solidFill>
            </a:endParaRPr>
          </a:p>
          <a:p>
            <a:pPr marL="0" indent="0">
              <a:buNone/>
            </a:pPr>
            <a:endParaRPr lang="fr-FR" dirty="0">
              <a:solidFill>
                <a:schemeClr val="bg1"/>
              </a:solidFill>
            </a:endParaRPr>
          </a:p>
          <a:p>
            <a:pPr marL="0" indent="0">
              <a:buNone/>
            </a:pPr>
            <a:r>
              <a:rPr lang="fr-FR" dirty="0">
                <a:solidFill>
                  <a:schemeClr val="bg1"/>
                </a:solidFill>
              </a:rPr>
              <a:t> </a:t>
            </a:r>
          </a:p>
        </p:txBody>
      </p:sp>
    </p:spTree>
    <p:extLst>
      <p:ext uri="{BB962C8B-B14F-4D97-AF65-F5344CB8AC3E}">
        <p14:creationId xmlns:p14="http://schemas.microsoft.com/office/powerpoint/2010/main" val="144532821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Rectangle 1"/>
          <p:cNvSpPr/>
          <p:nvPr/>
        </p:nvSpPr>
        <p:spPr>
          <a:xfrm>
            <a:off x="2371061" y="2764305"/>
            <a:ext cx="7272670" cy="1384995"/>
          </a:xfrm>
          <a:prstGeom prst="rect">
            <a:avLst/>
          </a:prstGeom>
        </p:spPr>
        <p:txBody>
          <a:bodyPr wrap="square">
            <a:spAutoFit/>
          </a:bodyPr>
          <a:lstStyle/>
          <a:p>
            <a:pPr algn="ctr"/>
            <a:r>
              <a:rPr lang="fr-FR" sz="2800" dirty="0">
                <a:solidFill>
                  <a:schemeClr val="bg1"/>
                </a:solidFill>
                <a:cs typeface="Arial" panose="020B0604020202020204" pitchFamily="34" charset="0"/>
              </a:rPr>
              <a:t>Vous devez donner le meilleur de vous-même</a:t>
            </a:r>
            <a:r>
              <a:rPr lang="fr-FR" sz="2800" dirty="0" smtClean="0">
                <a:solidFill>
                  <a:schemeClr val="bg1"/>
                </a:solidFill>
                <a:cs typeface="Arial" panose="020B0604020202020204" pitchFamily="34" charset="0"/>
              </a:rPr>
              <a:t>.</a:t>
            </a:r>
          </a:p>
          <a:p>
            <a:pPr algn="ctr"/>
            <a:endParaRPr lang="fr-FR" sz="2800" dirty="0">
              <a:solidFill>
                <a:schemeClr val="bg1"/>
              </a:solidFill>
              <a:cs typeface="Arial" panose="020B0604020202020204" pitchFamily="34" charset="0"/>
            </a:endParaRPr>
          </a:p>
          <a:p>
            <a:pPr algn="ctr"/>
            <a:r>
              <a:rPr lang="fr-FR" sz="2800" dirty="0">
                <a:solidFill>
                  <a:schemeClr val="bg1"/>
                </a:solidFill>
                <a:cs typeface="Arial" panose="020B0604020202020204" pitchFamily="34" charset="0"/>
              </a:rPr>
              <a:t>Bonne chance!</a:t>
            </a:r>
          </a:p>
        </p:txBody>
      </p:sp>
    </p:spTree>
    <p:extLst>
      <p:ext uri="{BB962C8B-B14F-4D97-AF65-F5344CB8AC3E}">
        <p14:creationId xmlns:p14="http://schemas.microsoft.com/office/powerpoint/2010/main" val="254327298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7" name="Espace réservé du contenu 6"/>
          <p:cNvSpPr>
            <a:spLocks noGrp="1"/>
          </p:cNvSpPr>
          <p:nvPr>
            <p:ph idx="1"/>
          </p:nvPr>
        </p:nvSpPr>
        <p:spPr>
          <a:xfrm>
            <a:off x="770965" y="440577"/>
            <a:ext cx="10515600" cy="5931194"/>
          </a:xfrm>
        </p:spPr>
        <p:txBody>
          <a:bodyPr>
            <a:noAutofit/>
          </a:bodyPr>
          <a:lstStyle/>
          <a:p>
            <a:pPr marL="0" indent="0" algn="ctr">
              <a:buNone/>
            </a:pPr>
            <a:r>
              <a:rPr lang="fr-FR" dirty="0">
                <a:solidFill>
                  <a:schemeClr val="bg1"/>
                </a:solidFill>
                <a:latin typeface="Arial" panose="020B0604020202020204" pitchFamily="34" charset="0"/>
                <a:cs typeface="Arial" panose="020B0604020202020204" pitchFamily="34" charset="0"/>
              </a:rPr>
              <a:t>Dans ce test, une jauge orange vous indiquera la force que vous exercez sur une échelle graduée. Vous allez devoir serrer la poignée au moment où l’échelle apparaît. Attention, vous avez un temps limité pour produire votre effort. Le but ici est simplement de vous familiariser avec le dispositif. </a:t>
            </a:r>
            <a:endParaRPr lang="fr-FR" dirty="0" smtClean="0">
              <a:solidFill>
                <a:schemeClr val="bg1"/>
              </a:solidFill>
              <a:latin typeface="Arial" panose="020B0604020202020204" pitchFamily="34" charset="0"/>
              <a:cs typeface="Arial" panose="020B0604020202020204" pitchFamily="34" charset="0"/>
            </a:endParaRPr>
          </a:p>
          <a:p>
            <a:pPr marL="0" indent="0" algn="ctr">
              <a:buNone/>
            </a:pPr>
            <a:endParaRPr lang="fr-FR" dirty="0">
              <a:solidFill>
                <a:schemeClr val="bg1"/>
              </a:solidFill>
              <a:latin typeface="Arial" panose="020B0604020202020204" pitchFamily="34" charset="0"/>
              <a:cs typeface="Arial" panose="020B0604020202020204" pitchFamily="34" charset="0"/>
            </a:endParaRPr>
          </a:p>
          <a:p>
            <a:pPr marL="0" indent="0" algn="ctr">
              <a:buNone/>
            </a:pPr>
            <a:r>
              <a:rPr lang="fr-FR" dirty="0">
                <a:solidFill>
                  <a:schemeClr val="bg1"/>
                </a:solidFill>
                <a:latin typeface="Arial" panose="020B0604020202020204" pitchFamily="34" charset="0"/>
                <a:cs typeface="Arial" panose="020B0604020202020204" pitchFamily="34" charset="0"/>
              </a:rPr>
              <a:t> </a:t>
            </a:r>
          </a:p>
        </p:txBody>
      </p:sp>
      <p:sp>
        <p:nvSpPr>
          <p:cNvPr id="19" name="Rectangle 18"/>
          <p:cNvSpPr/>
          <p:nvPr/>
        </p:nvSpPr>
        <p:spPr>
          <a:xfrm>
            <a:off x="9654417" y="4460333"/>
            <a:ext cx="439460" cy="1181141"/>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3" name="Connecteur droit 2"/>
          <p:cNvCxnSpPr/>
          <p:nvPr/>
        </p:nvCxnSpPr>
        <p:spPr>
          <a:xfrm>
            <a:off x="9448872" y="5385559"/>
            <a:ext cx="857657" cy="6534"/>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 name="Connecteur droit 9"/>
          <p:cNvCxnSpPr/>
          <p:nvPr/>
        </p:nvCxnSpPr>
        <p:spPr>
          <a:xfrm>
            <a:off x="9445326" y="5140714"/>
            <a:ext cx="857657" cy="6534"/>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Connecteur droit 10"/>
          <p:cNvCxnSpPr/>
          <p:nvPr/>
        </p:nvCxnSpPr>
        <p:spPr>
          <a:xfrm>
            <a:off x="9445326" y="4908007"/>
            <a:ext cx="857657" cy="6534"/>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Connecteur droit 11"/>
          <p:cNvCxnSpPr/>
          <p:nvPr/>
        </p:nvCxnSpPr>
        <p:spPr>
          <a:xfrm>
            <a:off x="9445321" y="4681370"/>
            <a:ext cx="857657" cy="6534"/>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Connecteur droit 12"/>
          <p:cNvCxnSpPr/>
          <p:nvPr/>
        </p:nvCxnSpPr>
        <p:spPr>
          <a:xfrm>
            <a:off x="9445323" y="4455197"/>
            <a:ext cx="857657" cy="6534"/>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Connecteur droit 13"/>
          <p:cNvCxnSpPr/>
          <p:nvPr/>
        </p:nvCxnSpPr>
        <p:spPr>
          <a:xfrm>
            <a:off x="9445322" y="4216422"/>
            <a:ext cx="857657" cy="6534"/>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Connecteur droit 14"/>
          <p:cNvCxnSpPr/>
          <p:nvPr/>
        </p:nvCxnSpPr>
        <p:spPr>
          <a:xfrm>
            <a:off x="9455949" y="3982550"/>
            <a:ext cx="857657" cy="6534"/>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Connecteur droit 15"/>
          <p:cNvCxnSpPr/>
          <p:nvPr/>
        </p:nvCxnSpPr>
        <p:spPr>
          <a:xfrm>
            <a:off x="9445321" y="3737240"/>
            <a:ext cx="857657" cy="6534"/>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 name="Connecteur droit 16"/>
          <p:cNvCxnSpPr/>
          <p:nvPr/>
        </p:nvCxnSpPr>
        <p:spPr>
          <a:xfrm>
            <a:off x="9445321" y="3504765"/>
            <a:ext cx="857657" cy="6534"/>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8" name="Connecteur droit 17"/>
          <p:cNvCxnSpPr/>
          <p:nvPr/>
        </p:nvCxnSpPr>
        <p:spPr>
          <a:xfrm>
            <a:off x="9445320" y="3254910"/>
            <a:ext cx="857657" cy="6534"/>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0" name="Connecteur droit 19"/>
          <p:cNvCxnSpPr/>
          <p:nvPr/>
        </p:nvCxnSpPr>
        <p:spPr>
          <a:xfrm>
            <a:off x="9445318" y="5638208"/>
            <a:ext cx="857657" cy="6534"/>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64" name="Rectangle 63"/>
          <p:cNvSpPr/>
          <p:nvPr/>
        </p:nvSpPr>
        <p:spPr>
          <a:xfrm>
            <a:off x="9388772" y="2527483"/>
            <a:ext cx="1125629" cy="400110"/>
          </a:xfrm>
          <a:prstGeom prst="rect">
            <a:avLst/>
          </a:prstGeom>
        </p:spPr>
        <p:txBody>
          <a:bodyPr wrap="none">
            <a:spAutoFit/>
          </a:bodyPr>
          <a:lstStyle/>
          <a:p>
            <a:r>
              <a:rPr lang="fr-FR" sz="2000" dirty="0" smtClean="0">
                <a:solidFill>
                  <a:schemeClr val="bg1"/>
                </a:solidFill>
                <a:latin typeface="Arial" panose="020B0604020202020204" pitchFamily="34" charset="0"/>
                <a:cs typeface="Arial" panose="020B0604020202020204" pitchFamily="34" charset="0"/>
                <a:sym typeface="Wingdings" panose="05000000000000000000" pitchFamily="2" charset="2"/>
              </a:rPr>
              <a:t>stimulus</a:t>
            </a:r>
            <a:endParaRPr lang="fr-FR" sz="2000" dirty="0"/>
          </a:p>
        </p:txBody>
      </p:sp>
      <p:sp>
        <p:nvSpPr>
          <p:cNvPr id="76" name="Rectangle 75"/>
          <p:cNvSpPr/>
          <p:nvPr/>
        </p:nvSpPr>
        <p:spPr>
          <a:xfrm>
            <a:off x="7823341" y="3843084"/>
            <a:ext cx="1308371" cy="400110"/>
          </a:xfrm>
          <a:prstGeom prst="rect">
            <a:avLst/>
          </a:prstGeom>
        </p:spPr>
        <p:txBody>
          <a:bodyPr wrap="none">
            <a:spAutoFit/>
          </a:bodyPr>
          <a:lstStyle/>
          <a:p>
            <a:pPr algn="ctr"/>
            <a:r>
              <a:rPr lang="fr-FR" sz="2000" dirty="0">
                <a:solidFill>
                  <a:srgbClr val="FFFF00"/>
                </a:solidFill>
                <a:latin typeface="Arial" panose="020B0604020202020204" pitchFamily="34" charset="0"/>
                <a:cs typeface="Arial" panose="020B0604020202020204" pitchFamily="34" charset="0"/>
                <a:sym typeface="Wingdings" panose="05000000000000000000" pitchFamily="2" charset="2"/>
              </a:rPr>
              <a:t>f</a:t>
            </a:r>
            <a:r>
              <a:rPr lang="fr-FR" sz="2000" dirty="0" smtClean="0">
                <a:solidFill>
                  <a:srgbClr val="FFFF00"/>
                </a:solidFill>
                <a:latin typeface="Arial" panose="020B0604020202020204" pitchFamily="34" charset="0"/>
                <a:cs typeface="Arial" panose="020B0604020202020204" pitchFamily="34" charset="0"/>
                <a:sym typeface="Wingdings" panose="05000000000000000000" pitchFamily="2" charset="2"/>
              </a:rPr>
              <a:t>orce max</a:t>
            </a:r>
          </a:p>
        </p:txBody>
      </p:sp>
      <p:sp>
        <p:nvSpPr>
          <p:cNvPr id="4" name="Forme libre 3"/>
          <p:cNvSpPr/>
          <p:nvPr/>
        </p:nvSpPr>
        <p:spPr>
          <a:xfrm>
            <a:off x="6034079" y="4471251"/>
            <a:ext cx="1831862" cy="1140880"/>
          </a:xfrm>
          <a:custGeom>
            <a:avLst/>
            <a:gdLst>
              <a:gd name="connsiteX0" fmla="*/ 0 w 2108719"/>
              <a:gd name="connsiteY0" fmla="*/ 1278294 h 1315747"/>
              <a:gd name="connsiteX1" fmla="*/ 363894 w 2108719"/>
              <a:gd name="connsiteY1" fmla="*/ 1287625 h 1315747"/>
              <a:gd name="connsiteX2" fmla="*/ 391886 w 2108719"/>
              <a:gd name="connsiteY2" fmla="*/ 1296955 h 1315747"/>
              <a:gd name="connsiteX3" fmla="*/ 578498 w 2108719"/>
              <a:gd name="connsiteY3" fmla="*/ 1287625 h 1315747"/>
              <a:gd name="connsiteX4" fmla="*/ 625151 w 2108719"/>
              <a:gd name="connsiteY4" fmla="*/ 1250302 h 1315747"/>
              <a:gd name="connsiteX5" fmla="*/ 681135 w 2108719"/>
              <a:gd name="connsiteY5" fmla="*/ 1222310 h 1315747"/>
              <a:gd name="connsiteX6" fmla="*/ 737119 w 2108719"/>
              <a:gd name="connsiteY6" fmla="*/ 1184988 h 1315747"/>
              <a:gd name="connsiteX7" fmla="*/ 765111 w 2108719"/>
              <a:gd name="connsiteY7" fmla="*/ 1138335 h 1315747"/>
              <a:gd name="connsiteX8" fmla="*/ 783772 w 2108719"/>
              <a:gd name="connsiteY8" fmla="*/ 1101012 h 1315747"/>
              <a:gd name="connsiteX9" fmla="*/ 811764 w 2108719"/>
              <a:gd name="connsiteY9" fmla="*/ 1073021 h 1315747"/>
              <a:gd name="connsiteX10" fmla="*/ 849086 w 2108719"/>
              <a:gd name="connsiteY10" fmla="*/ 1017037 h 1315747"/>
              <a:gd name="connsiteX11" fmla="*/ 886409 w 2108719"/>
              <a:gd name="connsiteY11" fmla="*/ 961053 h 1315747"/>
              <a:gd name="connsiteX12" fmla="*/ 905070 w 2108719"/>
              <a:gd name="connsiteY12" fmla="*/ 933061 h 1315747"/>
              <a:gd name="connsiteX13" fmla="*/ 914400 w 2108719"/>
              <a:gd name="connsiteY13" fmla="*/ 905070 h 1315747"/>
              <a:gd name="connsiteX14" fmla="*/ 951723 w 2108719"/>
              <a:gd name="connsiteY14" fmla="*/ 849086 h 1315747"/>
              <a:gd name="connsiteX15" fmla="*/ 979715 w 2108719"/>
              <a:gd name="connsiteY15" fmla="*/ 802433 h 1315747"/>
              <a:gd name="connsiteX16" fmla="*/ 1007707 w 2108719"/>
              <a:gd name="connsiteY16" fmla="*/ 737119 h 1315747"/>
              <a:gd name="connsiteX17" fmla="*/ 1026368 w 2108719"/>
              <a:gd name="connsiteY17" fmla="*/ 709127 h 1315747"/>
              <a:gd name="connsiteX18" fmla="*/ 1054360 w 2108719"/>
              <a:gd name="connsiteY18" fmla="*/ 653143 h 1315747"/>
              <a:gd name="connsiteX19" fmla="*/ 1073021 w 2108719"/>
              <a:gd name="connsiteY19" fmla="*/ 615821 h 1315747"/>
              <a:gd name="connsiteX20" fmla="*/ 1110343 w 2108719"/>
              <a:gd name="connsiteY20" fmla="*/ 559837 h 1315747"/>
              <a:gd name="connsiteX21" fmla="*/ 1147666 w 2108719"/>
              <a:gd name="connsiteY21" fmla="*/ 475861 h 1315747"/>
              <a:gd name="connsiteX22" fmla="*/ 1184988 w 2108719"/>
              <a:gd name="connsiteY22" fmla="*/ 401216 h 1315747"/>
              <a:gd name="connsiteX23" fmla="*/ 1212980 w 2108719"/>
              <a:gd name="connsiteY23" fmla="*/ 354563 h 1315747"/>
              <a:gd name="connsiteX24" fmla="*/ 1222311 w 2108719"/>
              <a:gd name="connsiteY24" fmla="*/ 326572 h 1315747"/>
              <a:gd name="connsiteX25" fmla="*/ 1278294 w 2108719"/>
              <a:gd name="connsiteY25" fmla="*/ 251927 h 1315747"/>
              <a:gd name="connsiteX26" fmla="*/ 1287625 w 2108719"/>
              <a:gd name="connsiteY26" fmla="*/ 223935 h 1315747"/>
              <a:gd name="connsiteX27" fmla="*/ 1343609 w 2108719"/>
              <a:gd name="connsiteY27" fmla="*/ 149290 h 1315747"/>
              <a:gd name="connsiteX28" fmla="*/ 1371600 w 2108719"/>
              <a:gd name="connsiteY28" fmla="*/ 93306 h 1315747"/>
              <a:gd name="connsiteX29" fmla="*/ 1390262 w 2108719"/>
              <a:gd name="connsiteY29" fmla="*/ 74645 h 1315747"/>
              <a:gd name="connsiteX30" fmla="*/ 1408923 w 2108719"/>
              <a:gd name="connsiteY30" fmla="*/ 46653 h 1315747"/>
              <a:gd name="connsiteX31" fmla="*/ 1464907 w 2108719"/>
              <a:gd name="connsiteY31" fmla="*/ 0 h 1315747"/>
              <a:gd name="connsiteX32" fmla="*/ 1548882 w 2108719"/>
              <a:gd name="connsiteY32" fmla="*/ 9331 h 1315747"/>
              <a:gd name="connsiteX33" fmla="*/ 1604866 w 2108719"/>
              <a:gd name="connsiteY33" fmla="*/ 27992 h 1315747"/>
              <a:gd name="connsiteX34" fmla="*/ 1642188 w 2108719"/>
              <a:gd name="connsiteY34" fmla="*/ 83976 h 1315747"/>
              <a:gd name="connsiteX35" fmla="*/ 1660849 w 2108719"/>
              <a:gd name="connsiteY35" fmla="*/ 139959 h 1315747"/>
              <a:gd name="connsiteX36" fmla="*/ 1670180 w 2108719"/>
              <a:gd name="connsiteY36" fmla="*/ 177282 h 1315747"/>
              <a:gd name="connsiteX37" fmla="*/ 1688841 w 2108719"/>
              <a:gd name="connsiteY37" fmla="*/ 233265 h 1315747"/>
              <a:gd name="connsiteX38" fmla="*/ 1698172 w 2108719"/>
              <a:gd name="connsiteY38" fmla="*/ 261257 h 1315747"/>
              <a:gd name="connsiteX39" fmla="*/ 1707502 w 2108719"/>
              <a:gd name="connsiteY39" fmla="*/ 317241 h 1315747"/>
              <a:gd name="connsiteX40" fmla="*/ 1716833 w 2108719"/>
              <a:gd name="connsiteY40" fmla="*/ 401216 h 1315747"/>
              <a:gd name="connsiteX41" fmla="*/ 1726164 w 2108719"/>
              <a:gd name="connsiteY41" fmla="*/ 438539 h 1315747"/>
              <a:gd name="connsiteX42" fmla="*/ 1744825 w 2108719"/>
              <a:gd name="connsiteY42" fmla="*/ 569168 h 1315747"/>
              <a:gd name="connsiteX43" fmla="*/ 1754156 w 2108719"/>
              <a:gd name="connsiteY43" fmla="*/ 615821 h 1315747"/>
              <a:gd name="connsiteX44" fmla="*/ 1763486 w 2108719"/>
              <a:gd name="connsiteY44" fmla="*/ 653143 h 1315747"/>
              <a:gd name="connsiteX45" fmla="*/ 1782147 w 2108719"/>
              <a:gd name="connsiteY45" fmla="*/ 737119 h 1315747"/>
              <a:gd name="connsiteX46" fmla="*/ 1791478 w 2108719"/>
              <a:gd name="connsiteY46" fmla="*/ 811763 h 1315747"/>
              <a:gd name="connsiteX47" fmla="*/ 1810139 w 2108719"/>
              <a:gd name="connsiteY47" fmla="*/ 877078 h 1315747"/>
              <a:gd name="connsiteX48" fmla="*/ 1847462 w 2108719"/>
              <a:gd name="connsiteY48" fmla="*/ 1007706 h 1315747"/>
              <a:gd name="connsiteX49" fmla="*/ 1866123 w 2108719"/>
              <a:gd name="connsiteY49" fmla="*/ 1063690 h 1315747"/>
              <a:gd name="connsiteX50" fmla="*/ 1875453 w 2108719"/>
              <a:gd name="connsiteY50" fmla="*/ 1091682 h 1315747"/>
              <a:gd name="connsiteX51" fmla="*/ 1894115 w 2108719"/>
              <a:gd name="connsiteY51" fmla="*/ 1119674 h 1315747"/>
              <a:gd name="connsiteX52" fmla="*/ 1912776 w 2108719"/>
              <a:gd name="connsiteY52" fmla="*/ 1175657 h 1315747"/>
              <a:gd name="connsiteX53" fmla="*/ 1950098 w 2108719"/>
              <a:gd name="connsiteY53" fmla="*/ 1222310 h 1315747"/>
              <a:gd name="connsiteX54" fmla="*/ 1996751 w 2108719"/>
              <a:gd name="connsiteY54" fmla="*/ 1259633 h 1315747"/>
              <a:gd name="connsiteX55" fmla="*/ 2043404 w 2108719"/>
              <a:gd name="connsiteY55" fmla="*/ 1287625 h 1315747"/>
              <a:gd name="connsiteX56" fmla="*/ 2062066 w 2108719"/>
              <a:gd name="connsiteY56" fmla="*/ 1306286 h 1315747"/>
              <a:gd name="connsiteX57" fmla="*/ 2108719 w 2108719"/>
              <a:gd name="connsiteY57" fmla="*/ 1315616 h 1315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2108719" h="1315747">
                <a:moveTo>
                  <a:pt x="0" y="1278294"/>
                </a:moveTo>
                <a:cubicBezTo>
                  <a:pt x="121298" y="1281404"/>
                  <a:pt x="242693" y="1281854"/>
                  <a:pt x="363894" y="1287625"/>
                </a:cubicBezTo>
                <a:cubicBezTo>
                  <a:pt x="373718" y="1288093"/>
                  <a:pt x="382051" y="1296955"/>
                  <a:pt x="391886" y="1296955"/>
                </a:cubicBezTo>
                <a:cubicBezTo>
                  <a:pt x="454168" y="1296955"/>
                  <a:pt x="516294" y="1290735"/>
                  <a:pt x="578498" y="1287625"/>
                </a:cubicBezTo>
                <a:cubicBezTo>
                  <a:pt x="632994" y="1269459"/>
                  <a:pt x="582946" y="1292507"/>
                  <a:pt x="625151" y="1250302"/>
                </a:cubicBezTo>
                <a:cubicBezTo>
                  <a:pt x="656215" y="1219238"/>
                  <a:pt x="646988" y="1241281"/>
                  <a:pt x="681135" y="1222310"/>
                </a:cubicBezTo>
                <a:cubicBezTo>
                  <a:pt x="700741" y="1211418"/>
                  <a:pt x="737119" y="1184988"/>
                  <a:pt x="737119" y="1184988"/>
                </a:cubicBezTo>
                <a:cubicBezTo>
                  <a:pt x="758777" y="1120010"/>
                  <a:pt x="730956" y="1189567"/>
                  <a:pt x="765111" y="1138335"/>
                </a:cubicBezTo>
                <a:cubicBezTo>
                  <a:pt x="772827" y="1126762"/>
                  <a:pt x="775687" y="1112331"/>
                  <a:pt x="783772" y="1101012"/>
                </a:cubicBezTo>
                <a:cubicBezTo>
                  <a:pt x="791442" y="1090275"/>
                  <a:pt x="803663" y="1083437"/>
                  <a:pt x="811764" y="1073021"/>
                </a:cubicBezTo>
                <a:cubicBezTo>
                  <a:pt x="825533" y="1055317"/>
                  <a:pt x="836645" y="1035698"/>
                  <a:pt x="849086" y="1017037"/>
                </a:cubicBezTo>
                <a:lnTo>
                  <a:pt x="886409" y="961053"/>
                </a:lnTo>
                <a:lnTo>
                  <a:pt x="905070" y="933061"/>
                </a:lnTo>
                <a:cubicBezTo>
                  <a:pt x="908180" y="923731"/>
                  <a:pt x="909624" y="913667"/>
                  <a:pt x="914400" y="905070"/>
                </a:cubicBezTo>
                <a:cubicBezTo>
                  <a:pt x="925292" y="885464"/>
                  <a:pt x="951723" y="849086"/>
                  <a:pt x="951723" y="849086"/>
                </a:cubicBezTo>
                <a:cubicBezTo>
                  <a:pt x="973381" y="784108"/>
                  <a:pt x="945560" y="853665"/>
                  <a:pt x="979715" y="802433"/>
                </a:cubicBezTo>
                <a:cubicBezTo>
                  <a:pt x="1018541" y="744195"/>
                  <a:pt x="982829" y="786874"/>
                  <a:pt x="1007707" y="737119"/>
                </a:cubicBezTo>
                <a:cubicBezTo>
                  <a:pt x="1012722" y="727089"/>
                  <a:pt x="1020148" y="718458"/>
                  <a:pt x="1026368" y="709127"/>
                </a:cubicBezTo>
                <a:cubicBezTo>
                  <a:pt x="1043474" y="657805"/>
                  <a:pt x="1025419" y="703788"/>
                  <a:pt x="1054360" y="653143"/>
                </a:cubicBezTo>
                <a:cubicBezTo>
                  <a:pt x="1061261" y="641067"/>
                  <a:pt x="1065865" y="627748"/>
                  <a:pt x="1073021" y="615821"/>
                </a:cubicBezTo>
                <a:cubicBezTo>
                  <a:pt x="1084560" y="596589"/>
                  <a:pt x="1103251" y="581114"/>
                  <a:pt x="1110343" y="559837"/>
                </a:cubicBezTo>
                <a:cubicBezTo>
                  <a:pt x="1132550" y="493214"/>
                  <a:pt x="1118092" y="520220"/>
                  <a:pt x="1147666" y="475861"/>
                </a:cubicBezTo>
                <a:cubicBezTo>
                  <a:pt x="1169109" y="411532"/>
                  <a:pt x="1152418" y="433787"/>
                  <a:pt x="1184988" y="401216"/>
                </a:cubicBezTo>
                <a:cubicBezTo>
                  <a:pt x="1211421" y="321924"/>
                  <a:pt x="1174556" y="418602"/>
                  <a:pt x="1212980" y="354563"/>
                </a:cubicBezTo>
                <a:cubicBezTo>
                  <a:pt x="1218040" y="346129"/>
                  <a:pt x="1217251" y="335006"/>
                  <a:pt x="1222311" y="326572"/>
                </a:cubicBezTo>
                <a:cubicBezTo>
                  <a:pt x="1255467" y="271312"/>
                  <a:pt x="1239568" y="368101"/>
                  <a:pt x="1278294" y="251927"/>
                </a:cubicBezTo>
                <a:cubicBezTo>
                  <a:pt x="1281404" y="242596"/>
                  <a:pt x="1282849" y="232533"/>
                  <a:pt x="1287625" y="223935"/>
                </a:cubicBezTo>
                <a:cubicBezTo>
                  <a:pt x="1314003" y="176454"/>
                  <a:pt x="1315294" y="177603"/>
                  <a:pt x="1343609" y="149290"/>
                </a:cubicBezTo>
                <a:cubicBezTo>
                  <a:pt x="1353463" y="119725"/>
                  <a:pt x="1350929" y="119145"/>
                  <a:pt x="1371600" y="93306"/>
                </a:cubicBezTo>
                <a:cubicBezTo>
                  <a:pt x="1377096" y="86437"/>
                  <a:pt x="1384766" y="81514"/>
                  <a:pt x="1390262" y="74645"/>
                </a:cubicBezTo>
                <a:cubicBezTo>
                  <a:pt x="1397267" y="65888"/>
                  <a:pt x="1401744" y="55268"/>
                  <a:pt x="1408923" y="46653"/>
                </a:cubicBezTo>
                <a:cubicBezTo>
                  <a:pt x="1431374" y="19712"/>
                  <a:pt x="1437383" y="18349"/>
                  <a:pt x="1464907" y="0"/>
                </a:cubicBezTo>
                <a:cubicBezTo>
                  <a:pt x="1492899" y="3110"/>
                  <a:pt x="1521265" y="3808"/>
                  <a:pt x="1548882" y="9331"/>
                </a:cubicBezTo>
                <a:cubicBezTo>
                  <a:pt x="1568171" y="13189"/>
                  <a:pt x="1604866" y="27992"/>
                  <a:pt x="1604866" y="27992"/>
                </a:cubicBezTo>
                <a:cubicBezTo>
                  <a:pt x="1617307" y="46653"/>
                  <a:pt x="1635096" y="62699"/>
                  <a:pt x="1642188" y="83976"/>
                </a:cubicBezTo>
                <a:cubicBezTo>
                  <a:pt x="1648408" y="102637"/>
                  <a:pt x="1656078" y="120876"/>
                  <a:pt x="1660849" y="139959"/>
                </a:cubicBezTo>
                <a:cubicBezTo>
                  <a:pt x="1663959" y="152400"/>
                  <a:pt x="1666495" y="164999"/>
                  <a:pt x="1670180" y="177282"/>
                </a:cubicBezTo>
                <a:cubicBezTo>
                  <a:pt x="1675832" y="196123"/>
                  <a:pt x="1682621" y="214604"/>
                  <a:pt x="1688841" y="233265"/>
                </a:cubicBezTo>
                <a:lnTo>
                  <a:pt x="1698172" y="261257"/>
                </a:lnTo>
                <a:cubicBezTo>
                  <a:pt x="1701282" y="279918"/>
                  <a:pt x="1705002" y="298488"/>
                  <a:pt x="1707502" y="317241"/>
                </a:cubicBezTo>
                <a:cubicBezTo>
                  <a:pt x="1711224" y="345158"/>
                  <a:pt x="1712550" y="373380"/>
                  <a:pt x="1716833" y="401216"/>
                </a:cubicBezTo>
                <a:cubicBezTo>
                  <a:pt x="1718783" y="413891"/>
                  <a:pt x="1723054" y="426098"/>
                  <a:pt x="1726164" y="438539"/>
                </a:cubicBezTo>
                <a:cubicBezTo>
                  <a:pt x="1734275" y="503433"/>
                  <a:pt x="1734061" y="509970"/>
                  <a:pt x="1744825" y="569168"/>
                </a:cubicBezTo>
                <a:cubicBezTo>
                  <a:pt x="1747662" y="584771"/>
                  <a:pt x="1750716" y="600340"/>
                  <a:pt x="1754156" y="615821"/>
                </a:cubicBezTo>
                <a:cubicBezTo>
                  <a:pt x="1756938" y="628339"/>
                  <a:pt x="1760971" y="640569"/>
                  <a:pt x="1763486" y="653143"/>
                </a:cubicBezTo>
                <a:cubicBezTo>
                  <a:pt x="1779907" y="735249"/>
                  <a:pt x="1763990" y="682643"/>
                  <a:pt x="1782147" y="737119"/>
                </a:cubicBezTo>
                <a:cubicBezTo>
                  <a:pt x="1785257" y="762000"/>
                  <a:pt x="1787356" y="787029"/>
                  <a:pt x="1791478" y="811763"/>
                </a:cubicBezTo>
                <a:cubicBezTo>
                  <a:pt x="1798137" y="851718"/>
                  <a:pt x="1800633" y="842220"/>
                  <a:pt x="1810139" y="877078"/>
                </a:cubicBezTo>
                <a:cubicBezTo>
                  <a:pt x="1845288" y="1005962"/>
                  <a:pt x="1811702" y="900429"/>
                  <a:pt x="1847462" y="1007706"/>
                </a:cubicBezTo>
                <a:lnTo>
                  <a:pt x="1866123" y="1063690"/>
                </a:lnTo>
                <a:cubicBezTo>
                  <a:pt x="1869233" y="1073021"/>
                  <a:pt x="1869997" y="1083499"/>
                  <a:pt x="1875453" y="1091682"/>
                </a:cubicBezTo>
                <a:lnTo>
                  <a:pt x="1894115" y="1119674"/>
                </a:lnTo>
                <a:cubicBezTo>
                  <a:pt x="1900335" y="1138335"/>
                  <a:pt x="1898867" y="1161748"/>
                  <a:pt x="1912776" y="1175657"/>
                </a:cubicBezTo>
                <a:cubicBezTo>
                  <a:pt x="1957839" y="1220722"/>
                  <a:pt x="1903010" y="1163451"/>
                  <a:pt x="1950098" y="1222310"/>
                </a:cubicBezTo>
                <a:cubicBezTo>
                  <a:pt x="1970124" y="1247342"/>
                  <a:pt x="1969809" y="1238079"/>
                  <a:pt x="1996751" y="1259633"/>
                </a:cubicBezTo>
                <a:cubicBezTo>
                  <a:pt x="2033345" y="1288907"/>
                  <a:pt x="1994795" y="1271421"/>
                  <a:pt x="2043404" y="1287625"/>
                </a:cubicBezTo>
                <a:cubicBezTo>
                  <a:pt x="2049625" y="1293845"/>
                  <a:pt x="2054522" y="1301760"/>
                  <a:pt x="2062066" y="1306286"/>
                </a:cubicBezTo>
                <a:cubicBezTo>
                  <a:pt x="2080895" y="1317583"/>
                  <a:pt x="2089750" y="1315616"/>
                  <a:pt x="2108719" y="1315616"/>
                </a:cubicBezTo>
              </a:path>
            </a:pathLst>
          </a:cu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bg1"/>
              </a:solidFill>
            </a:endParaRPr>
          </a:p>
        </p:txBody>
      </p:sp>
      <p:cxnSp>
        <p:nvCxnSpPr>
          <p:cNvPr id="6" name="Connecteur droit 5"/>
          <p:cNvCxnSpPr/>
          <p:nvPr/>
        </p:nvCxnSpPr>
        <p:spPr>
          <a:xfrm>
            <a:off x="5990720" y="5612131"/>
            <a:ext cx="2139873" cy="1920"/>
          </a:xfrm>
          <a:prstGeom prst="line">
            <a:avLst/>
          </a:prstGeom>
          <a:ln w="38100">
            <a:solidFill>
              <a:schemeClr val="bg1"/>
            </a:solidFill>
            <a:prstDash val="solid"/>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3" name="Connecteur droit 52"/>
          <p:cNvCxnSpPr/>
          <p:nvPr/>
        </p:nvCxnSpPr>
        <p:spPr>
          <a:xfrm flipV="1">
            <a:off x="6007496" y="4123543"/>
            <a:ext cx="2452" cy="1488588"/>
          </a:xfrm>
          <a:prstGeom prst="line">
            <a:avLst/>
          </a:prstGeom>
          <a:ln w="38100">
            <a:solidFill>
              <a:schemeClr val="bg1"/>
            </a:solidFill>
            <a:prstDash val="solid"/>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2" name="Connecteur droit 61"/>
          <p:cNvCxnSpPr/>
          <p:nvPr/>
        </p:nvCxnSpPr>
        <p:spPr>
          <a:xfrm>
            <a:off x="7299815" y="4469331"/>
            <a:ext cx="2019679" cy="0"/>
          </a:xfrm>
          <a:prstGeom prst="line">
            <a:avLst/>
          </a:prstGeom>
          <a:ln w="38100">
            <a:solidFill>
              <a:srgbClr val="FFFF00"/>
            </a:solidFill>
            <a:prstDash val="dash"/>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67" name="Rectangle 66"/>
          <p:cNvSpPr/>
          <p:nvPr/>
        </p:nvSpPr>
        <p:spPr>
          <a:xfrm>
            <a:off x="6624825" y="2530389"/>
            <a:ext cx="753732" cy="400110"/>
          </a:xfrm>
          <a:prstGeom prst="rect">
            <a:avLst/>
          </a:prstGeom>
        </p:spPr>
        <p:txBody>
          <a:bodyPr wrap="none">
            <a:spAutoFit/>
          </a:bodyPr>
          <a:lstStyle/>
          <a:p>
            <a:r>
              <a:rPr lang="fr-FR" sz="2000" dirty="0" smtClean="0">
                <a:solidFill>
                  <a:schemeClr val="bg1"/>
                </a:solidFill>
                <a:latin typeface="Arial" panose="020B0604020202020204" pitchFamily="34" charset="0"/>
                <a:cs typeface="Arial" panose="020B0604020202020204" pitchFamily="34" charset="0"/>
                <a:sym typeface="Wingdings" panose="05000000000000000000" pitchFamily="2" charset="2"/>
              </a:rPr>
              <a:t>force</a:t>
            </a:r>
            <a:endParaRPr lang="fr-FR" sz="2000" dirty="0"/>
          </a:p>
        </p:txBody>
      </p:sp>
      <p:sp>
        <p:nvSpPr>
          <p:cNvPr id="58" name="Ellipse 57"/>
          <p:cNvSpPr/>
          <p:nvPr/>
        </p:nvSpPr>
        <p:spPr>
          <a:xfrm>
            <a:off x="7293168" y="4419087"/>
            <a:ext cx="115857" cy="120057"/>
          </a:xfrm>
          <a:prstGeom prst="ellipse">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68" name="Image 6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7568033">
            <a:off x="6759090" y="5920144"/>
            <a:ext cx="651759" cy="651759"/>
          </a:xfrm>
          <a:prstGeom prst="ellipse">
            <a:avLst/>
          </a:prstGeom>
          <a:ln w="63500" cap="rnd">
            <a:no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cxnSp>
        <p:nvCxnSpPr>
          <p:cNvPr id="71" name="Connecteur droit 70"/>
          <p:cNvCxnSpPr/>
          <p:nvPr/>
        </p:nvCxnSpPr>
        <p:spPr>
          <a:xfrm>
            <a:off x="1877087" y="5385559"/>
            <a:ext cx="857657" cy="6534"/>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4" name="Connecteur droit 73"/>
          <p:cNvCxnSpPr/>
          <p:nvPr/>
        </p:nvCxnSpPr>
        <p:spPr>
          <a:xfrm>
            <a:off x="1873541" y="5140714"/>
            <a:ext cx="857657" cy="6534"/>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7" name="Connecteur droit 76"/>
          <p:cNvCxnSpPr/>
          <p:nvPr/>
        </p:nvCxnSpPr>
        <p:spPr>
          <a:xfrm>
            <a:off x="1873541" y="4908007"/>
            <a:ext cx="857657" cy="6534"/>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8" name="Connecteur droit 77"/>
          <p:cNvCxnSpPr/>
          <p:nvPr/>
        </p:nvCxnSpPr>
        <p:spPr>
          <a:xfrm>
            <a:off x="1873536" y="4681370"/>
            <a:ext cx="857657" cy="6534"/>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9" name="Connecteur droit 78"/>
          <p:cNvCxnSpPr/>
          <p:nvPr/>
        </p:nvCxnSpPr>
        <p:spPr>
          <a:xfrm>
            <a:off x="1873538" y="4455197"/>
            <a:ext cx="857657" cy="6534"/>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0" name="Connecteur droit 79"/>
          <p:cNvCxnSpPr/>
          <p:nvPr/>
        </p:nvCxnSpPr>
        <p:spPr>
          <a:xfrm>
            <a:off x="1873537" y="4216422"/>
            <a:ext cx="857657" cy="6534"/>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1" name="Connecteur droit 80"/>
          <p:cNvCxnSpPr/>
          <p:nvPr/>
        </p:nvCxnSpPr>
        <p:spPr>
          <a:xfrm>
            <a:off x="1884164" y="3982550"/>
            <a:ext cx="857657" cy="6534"/>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2" name="Connecteur droit 81"/>
          <p:cNvCxnSpPr/>
          <p:nvPr/>
        </p:nvCxnSpPr>
        <p:spPr>
          <a:xfrm>
            <a:off x="1873536" y="3737240"/>
            <a:ext cx="857657" cy="6534"/>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3" name="Connecteur droit 82"/>
          <p:cNvCxnSpPr/>
          <p:nvPr/>
        </p:nvCxnSpPr>
        <p:spPr>
          <a:xfrm>
            <a:off x="1873536" y="3504765"/>
            <a:ext cx="857657" cy="6534"/>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4" name="Connecteur droit 83"/>
          <p:cNvCxnSpPr/>
          <p:nvPr/>
        </p:nvCxnSpPr>
        <p:spPr>
          <a:xfrm>
            <a:off x="1873535" y="3254910"/>
            <a:ext cx="857657" cy="6534"/>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5" name="Connecteur droit 84"/>
          <p:cNvCxnSpPr/>
          <p:nvPr/>
        </p:nvCxnSpPr>
        <p:spPr>
          <a:xfrm>
            <a:off x="1873533" y="5638208"/>
            <a:ext cx="857657" cy="6534"/>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86" name="Rectangle 85"/>
          <p:cNvSpPr/>
          <p:nvPr/>
        </p:nvSpPr>
        <p:spPr>
          <a:xfrm>
            <a:off x="1816987" y="2527483"/>
            <a:ext cx="1125629" cy="400110"/>
          </a:xfrm>
          <a:prstGeom prst="rect">
            <a:avLst/>
          </a:prstGeom>
        </p:spPr>
        <p:txBody>
          <a:bodyPr wrap="none">
            <a:spAutoFit/>
          </a:bodyPr>
          <a:lstStyle/>
          <a:p>
            <a:r>
              <a:rPr lang="fr-FR" sz="2000" dirty="0" smtClean="0">
                <a:solidFill>
                  <a:schemeClr val="bg1"/>
                </a:solidFill>
                <a:latin typeface="Arial" panose="020B0604020202020204" pitchFamily="34" charset="0"/>
                <a:cs typeface="Arial" panose="020B0604020202020204" pitchFamily="34" charset="0"/>
                <a:sym typeface="Wingdings" panose="05000000000000000000" pitchFamily="2" charset="2"/>
              </a:rPr>
              <a:t>stimulus</a:t>
            </a:r>
            <a:endParaRPr lang="fr-FR" sz="2000" dirty="0"/>
          </a:p>
        </p:txBody>
      </p:sp>
      <p:sp>
        <p:nvSpPr>
          <p:cNvPr id="60" name="Flèche droite 59"/>
          <p:cNvSpPr/>
          <p:nvPr/>
        </p:nvSpPr>
        <p:spPr>
          <a:xfrm>
            <a:off x="3492354" y="4172934"/>
            <a:ext cx="1403498" cy="252909"/>
          </a:xfrm>
          <a:prstGeom prst="rightArrow">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6637140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7" name="Espace réservé du contenu 6"/>
          <p:cNvSpPr>
            <a:spLocks noGrp="1"/>
          </p:cNvSpPr>
          <p:nvPr>
            <p:ph idx="1"/>
          </p:nvPr>
        </p:nvSpPr>
        <p:spPr>
          <a:xfrm>
            <a:off x="797360" y="748469"/>
            <a:ext cx="10515600" cy="5931194"/>
          </a:xfrm>
        </p:spPr>
        <p:txBody>
          <a:bodyPr>
            <a:noAutofit/>
          </a:bodyPr>
          <a:lstStyle/>
          <a:p>
            <a:pPr marL="0" indent="0" algn="ctr">
              <a:buNone/>
            </a:pPr>
            <a:r>
              <a:rPr lang="fr-FR" dirty="0">
                <a:solidFill>
                  <a:schemeClr val="bg1"/>
                </a:solidFill>
                <a:latin typeface="Arial" panose="020B0604020202020204" pitchFamily="34" charset="0"/>
                <a:cs typeface="Arial" panose="020B0604020202020204" pitchFamily="34" charset="0"/>
              </a:rPr>
              <a:t>A partir de maintenant, le véritable test commence. A chaque essai sera associé un enjeu monétaire qui vous sera présenté sous la forme d’une photo et qui pourra prendre les valeurs suivantes:</a:t>
            </a:r>
          </a:p>
          <a:p>
            <a:pPr marL="0" indent="0" algn="ctr">
              <a:buNone/>
            </a:pPr>
            <a:endParaRPr lang="fr-FR" dirty="0">
              <a:solidFill>
                <a:schemeClr val="bg1"/>
              </a:solidFill>
              <a:latin typeface="Arial" panose="020B0604020202020204" pitchFamily="34" charset="0"/>
              <a:cs typeface="Arial" panose="020B0604020202020204" pitchFamily="34" charset="0"/>
            </a:endParaRPr>
          </a:p>
          <a:p>
            <a:pPr marL="0" indent="0" algn="ctr">
              <a:buNone/>
            </a:pPr>
            <a:endParaRPr lang="fr-FR" dirty="0" smtClean="0">
              <a:solidFill>
                <a:schemeClr val="bg1"/>
              </a:solidFill>
              <a:latin typeface="Arial" panose="020B0604020202020204" pitchFamily="34" charset="0"/>
              <a:cs typeface="Arial" panose="020B0604020202020204" pitchFamily="34" charset="0"/>
            </a:endParaRPr>
          </a:p>
          <a:p>
            <a:pPr marL="0" indent="0" algn="ctr">
              <a:buNone/>
            </a:pPr>
            <a:endParaRPr lang="fr-FR" dirty="0">
              <a:solidFill>
                <a:schemeClr val="bg1"/>
              </a:solidFill>
              <a:latin typeface="Arial" panose="020B0604020202020204" pitchFamily="34" charset="0"/>
              <a:cs typeface="Arial" panose="020B0604020202020204" pitchFamily="34" charset="0"/>
            </a:endParaRPr>
          </a:p>
          <a:p>
            <a:pPr marL="0" indent="0" algn="ctr">
              <a:buNone/>
            </a:pPr>
            <a:endParaRPr lang="fr-FR" dirty="0" smtClean="0">
              <a:solidFill>
                <a:schemeClr val="bg1"/>
              </a:solidFill>
              <a:latin typeface="Arial" panose="020B0604020202020204" pitchFamily="34" charset="0"/>
              <a:cs typeface="Arial" panose="020B0604020202020204" pitchFamily="34" charset="0"/>
            </a:endParaRPr>
          </a:p>
          <a:p>
            <a:pPr marL="0" indent="0" algn="ctr">
              <a:buNone/>
            </a:pPr>
            <a:r>
              <a:rPr lang="fr-FR" dirty="0" smtClean="0">
                <a:solidFill>
                  <a:schemeClr val="bg1"/>
                </a:solidFill>
                <a:latin typeface="Arial" panose="020B0604020202020204" pitchFamily="34" charset="0"/>
                <a:cs typeface="Arial" panose="020B0604020202020204" pitchFamily="34" charset="0"/>
              </a:rPr>
              <a:t>L’icône correspondra au gain maximal potentiel </a:t>
            </a:r>
            <a:r>
              <a:rPr lang="fr-FR" dirty="0">
                <a:solidFill>
                  <a:schemeClr val="bg1"/>
                </a:solidFill>
                <a:latin typeface="Arial" panose="020B0604020202020204" pitchFamily="34" charset="0"/>
                <a:cs typeface="Arial" panose="020B0604020202020204" pitchFamily="34" charset="0"/>
              </a:rPr>
              <a:t> </a:t>
            </a:r>
          </a:p>
        </p:txBody>
      </p:sp>
      <p:pic>
        <p:nvPicPr>
          <p:cNvPr id="2" name="Imag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41497" y="2968703"/>
            <a:ext cx="926612" cy="938416"/>
          </a:xfrm>
          <a:prstGeom prst="rect">
            <a:avLst/>
          </a:prstGeom>
        </p:spPr>
      </p:pic>
      <p:pic>
        <p:nvPicPr>
          <p:cNvPr id="3" name="Imag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08706" y="2881209"/>
            <a:ext cx="1029341" cy="1049928"/>
          </a:xfrm>
          <a:prstGeom prst="rect">
            <a:avLst/>
          </a:prstGeom>
        </p:spPr>
      </p:pic>
      <p:pic>
        <p:nvPicPr>
          <p:cNvPr id="4" name="Imag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67247" y="2881209"/>
            <a:ext cx="1959824" cy="1003525"/>
          </a:xfrm>
          <a:prstGeom prst="rect">
            <a:avLst/>
          </a:prstGeom>
        </p:spPr>
      </p:pic>
      <p:pic>
        <p:nvPicPr>
          <p:cNvPr id="5" name="Image 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326419" y="2743963"/>
            <a:ext cx="2298861" cy="1235209"/>
          </a:xfrm>
          <a:prstGeom prst="rect">
            <a:avLst/>
          </a:prstGeom>
        </p:spPr>
      </p:pic>
      <p:pic>
        <p:nvPicPr>
          <p:cNvPr id="6" name="Image 5"/>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33016" y="3070779"/>
            <a:ext cx="720538" cy="734263"/>
          </a:xfrm>
          <a:prstGeom prst="rect">
            <a:avLst/>
          </a:prstGeom>
        </p:spPr>
      </p:pic>
      <p:pic>
        <p:nvPicPr>
          <p:cNvPr id="8" name="Image 7"/>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123733" y="2994653"/>
            <a:ext cx="856185" cy="868077"/>
          </a:xfrm>
          <a:prstGeom prst="rect">
            <a:avLst/>
          </a:prstGeom>
        </p:spPr>
      </p:pic>
    </p:spTree>
    <p:extLst>
      <p:ext uri="{BB962C8B-B14F-4D97-AF65-F5344CB8AC3E}">
        <p14:creationId xmlns:p14="http://schemas.microsoft.com/office/powerpoint/2010/main" val="9088815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7" name="Espace réservé du contenu 6"/>
          <p:cNvSpPr>
            <a:spLocks noGrp="1"/>
          </p:cNvSpPr>
          <p:nvPr>
            <p:ph idx="1"/>
          </p:nvPr>
        </p:nvSpPr>
        <p:spPr>
          <a:xfrm>
            <a:off x="770965" y="544749"/>
            <a:ext cx="10515600" cy="5827022"/>
          </a:xfrm>
        </p:spPr>
        <p:txBody>
          <a:bodyPr>
            <a:noAutofit/>
          </a:bodyPr>
          <a:lstStyle/>
          <a:p>
            <a:pPr marL="0" indent="0" algn="ctr">
              <a:buNone/>
            </a:pPr>
            <a:r>
              <a:rPr lang="fr-FR" dirty="0">
                <a:solidFill>
                  <a:schemeClr val="bg1"/>
                </a:solidFill>
              </a:rPr>
              <a:t>Votre rémunération dépendra de votre performance.</a:t>
            </a:r>
          </a:p>
          <a:p>
            <a:pPr marL="0" indent="0">
              <a:buNone/>
            </a:pPr>
            <a:endParaRPr lang="fr-FR" dirty="0" smtClean="0">
              <a:solidFill>
                <a:schemeClr val="bg1"/>
              </a:solidFill>
            </a:endParaRPr>
          </a:p>
          <a:p>
            <a:pPr marL="0" indent="0">
              <a:buNone/>
            </a:pPr>
            <a:r>
              <a:rPr lang="fr-FR" dirty="0" smtClean="0">
                <a:solidFill>
                  <a:schemeClr val="bg1"/>
                </a:solidFill>
              </a:rPr>
              <a:t>Exemple:</a:t>
            </a:r>
          </a:p>
          <a:p>
            <a:pPr marL="0" indent="0">
              <a:buNone/>
            </a:pPr>
            <a:endParaRPr lang="fr-FR" dirty="0">
              <a:solidFill>
                <a:schemeClr val="bg1"/>
              </a:solidFill>
            </a:endParaRPr>
          </a:p>
        </p:txBody>
      </p:sp>
      <p:sp>
        <p:nvSpPr>
          <p:cNvPr id="5" name="Rectangle 4"/>
          <p:cNvSpPr/>
          <p:nvPr/>
        </p:nvSpPr>
        <p:spPr>
          <a:xfrm>
            <a:off x="3369495" y="4341974"/>
            <a:ext cx="439460" cy="1637856"/>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6" name="Connecteur droit 5"/>
          <p:cNvCxnSpPr/>
          <p:nvPr/>
        </p:nvCxnSpPr>
        <p:spPr>
          <a:xfrm>
            <a:off x="3163951" y="5504576"/>
            <a:ext cx="857657" cy="6534"/>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 name="Connecteur droit 7"/>
          <p:cNvCxnSpPr/>
          <p:nvPr/>
        </p:nvCxnSpPr>
        <p:spPr>
          <a:xfrm>
            <a:off x="3160405" y="5259731"/>
            <a:ext cx="857657" cy="6534"/>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 name="Connecteur droit 8"/>
          <p:cNvCxnSpPr/>
          <p:nvPr/>
        </p:nvCxnSpPr>
        <p:spPr>
          <a:xfrm>
            <a:off x="3160405" y="5027024"/>
            <a:ext cx="857657" cy="6534"/>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 name="Connecteur droit 9"/>
          <p:cNvCxnSpPr/>
          <p:nvPr/>
        </p:nvCxnSpPr>
        <p:spPr>
          <a:xfrm>
            <a:off x="3160400" y="4800387"/>
            <a:ext cx="857657" cy="6534"/>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Connecteur droit 10"/>
          <p:cNvCxnSpPr/>
          <p:nvPr/>
        </p:nvCxnSpPr>
        <p:spPr>
          <a:xfrm>
            <a:off x="3160402" y="4574214"/>
            <a:ext cx="857657" cy="6534"/>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Connecteur droit 11"/>
          <p:cNvCxnSpPr/>
          <p:nvPr/>
        </p:nvCxnSpPr>
        <p:spPr>
          <a:xfrm>
            <a:off x="3160401" y="4335439"/>
            <a:ext cx="857657" cy="6534"/>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Connecteur droit 12"/>
          <p:cNvCxnSpPr/>
          <p:nvPr/>
        </p:nvCxnSpPr>
        <p:spPr>
          <a:xfrm>
            <a:off x="3171028" y="4101567"/>
            <a:ext cx="857657" cy="6534"/>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Connecteur droit 13"/>
          <p:cNvCxnSpPr/>
          <p:nvPr/>
        </p:nvCxnSpPr>
        <p:spPr>
          <a:xfrm>
            <a:off x="3160400" y="3856257"/>
            <a:ext cx="857657" cy="6534"/>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Connecteur droit 14"/>
          <p:cNvCxnSpPr/>
          <p:nvPr/>
        </p:nvCxnSpPr>
        <p:spPr>
          <a:xfrm>
            <a:off x="3160400" y="3623782"/>
            <a:ext cx="857657" cy="6534"/>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 name="Connecteur droit 16"/>
          <p:cNvCxnSpPr/>
          <p:nvPr/>
        </p:nvCxnSpPr>
        <p:spPr>
          <a:xfrm>
            <a:off x="3160397" y="5757225"/>
            <a:ext cx="857657" cy="6534"/>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pic>
        <p:nvPicPr>
          <p:cNvPr id="40" name="Image 3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66120" y="2914650"/>
            <a:ext cx="695227" cy="709132"/>
          </a:xfrm>
          <a:prstGeom prst="rect">
            <a:avLst/>
          </a:prstGeom>
        </p:spPr>
      </p:pic>
      <p:cxnSp>
        <p:nvCxnSpPr>
          <p:cNvPr id="41" name="Connecteur droit avec flèche 40"/>
          <p:cNvCxnSpPr/>
          <p:nvPr/>
        </p:nvCxnSpPr>
        <p:spPr>
          <a:xfrm>
            <a:off x="4152900" y="4335439"/>
            <a:ext cx="2905125" cy="0"/>
          </a:xfrm>
          <a:prstGeom prst="straightConnector1">
            <a:avLst/>
          </a:prstGeom>
          <a:ln w="38100">
            <a:solidFill>
              <a:srgbClr val="FFFF00"/>
            </a:solidFill>
            <a:tailEnd type="triangle"/>
          </a:ln>
        </p:spPr>
        <p:style>
          <a:lnRef idx="1">
            <a:schemeClr val="accent1"/>
          </a:lnRef>
          <a:fillRef idx="0">
            <a:schemeClr val="accent1"/>
          </a:fillRef>
          <a:effectRef idx="0">
            <a:schemeClr val="accent1"/>
          </a:effectRef>
          <a:fontRef idx="minor">
            <a:schemeClr val="tx1"/>
          </a:fontRef>
        </p:style>
      </p:cxnSp>
      <p:sp>
        <p:nvSpPr>
          <p:cNvPr id="43" name="Rectangle 42"/>
          <p:cNvSpPr/>
          <p:nvPr/>
        </p:nvSpPr>
        <p:spPr>
          <a:xfrm>
            <a:off x="7187884" y="4135384"/>
            <a:ext cx="1137957" cy="400110"/>
          </a:xfrm>
          <a:prstGeom prst="rect">
            <a:avLst/>
          </a:prstGeom>
        </p:spPr>
        <p:txBody>
          <a:bodyPr wrap="square">
            <a:spAutoFit/>
          </a:bodyPr>
          <a:lstStyle/>
          <a:p>
            <a:pPr algn="ctr"/>
            <a:r>
              <a:rPr lang="fr-FR" sz="2000" dirty="0" smtClean="0">
                <a:solidFill>
                  <a:srgbClr val="FFFF00"/>
                </a:solidFill>
                <a:latin typeface="Arial" panose="020B0604020202020204" pitchFamily="34" charset="0"/>
                <a:cs typeface="Arial" panose="020B0604020202020204" pitchFamily="34" charset="0"/>
                <a:sym typeface="Wingdings" panose="05000000000000000000" pitchFamily="2" charset="2"/>
              </a:rPr>
              <a:t>+ 0,70 € </a:t>
            </a:r>
            <a:endParaRPr lang="fr-FR" sz="2000" dirty="0">
              <a:solidFill>
                <a:srgbClr val="FFFF00"/>
              </a:solidFill>
              <a:latin typeface="Arial" panose="020B0604020202020204" pitchFamily="34" charset="0"/>
              <a:cs typeface="Arial" panose="020B0604020202020204" pitchFamily="34" charset="0"/>
              <a:sym typeface="Wingdings" panose="05000000000000000000" pitchFamily="2" charset="2"/>
            </a:endParaRPr>
          </a:p>
        </p:txBody>
      </p:sp>
    </p:spTree>
    <p:extLst>
      <p:ext uri="{BB962C8B-B14F-4D97-AF65-F5344CB8AC3E}">
        <p14:creationId xmlns:p14="http://schemas.microsoft.com/office/powerpoint/2010/main" val="29582172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7" name="Espace réservé du contenu 6"/>
          <p:cNvSpPr>
            <a:spLocks noGrp="1"/>
          </p:cNvSpPr>
          <p:nvPr>
            <p:ph idx="1"/>
          </p:nvPr>
        </p:nvSpPr>
        <p:spPr>
          <a:xfrm>
            <a:off x="770965" y="440577"/>
            <a:ext cx="10515600" cy="5931194"/>
          </a:xfrm>
        </p:spPr>
        <p:txBody>
          <a:bodyPr>
            <a:noAutofit/>
          </a:bodyPr>
          <a:lstStyle/>
          <a:p>
            <a:pPr marL="0" indent="0">
              <a:buNone/>
            </a:pPr>
            <a:r>
              <a:rPr lang="fr-FR" dirty="0" smtClean="0">
                <a:solidFill>
                  <a:schemeClr val="bg1"/>
                </a:solidFill>
              </a:rPr>
              <a:t>En cas de perte, </a:t>
            </a:r>
            <a:r>
              <a:rPr lang="fr-FR" b="1" u="sng" dirty="0" smtClean="0">
                <a:solidFill>
                  <a:schemeClr val="bg1"/>
                </a:solidFill>
              </a:rPr>
              <a:t>votre perte dépendra de votre performance</a:t>
            </a:r>
            <a:r>
              <a:rPr lang="fr-FR" dirty="0" smtClean="0">
                <a:solidFill>
                  <a:schemeClr val="bg1"/>
                </a:solidFill>
              </a:rPr>
              <a:t>.</a:t>
            </a:r>
          </a:p>
          <a:p>
            <a:pPr marL="0" indent="0">
              <a:buNone/>
            </a:pPr>
            <a:endParaRPr lang="fr-FR" dirty="0" smtClean="0">
              <a:solidFill>
                <a:schemeClr val="bg1"/>
              </a:solidFill>
            </a:endParaRPr>
          </a:p>
          <a:p>
            <a:pPr marL="0" indent="0">
              <a:buNone/>
            </a:pPr>
            <a:r>
              <a:rPr lang="fr-FR" dirty="0" smtClean="0">
                <a:solidFill>
                  <a:schemeClr val="bg1"/>
                </a:solidFill>
              </a:rPr>
              <a:t>Exemple:</a:t>
            </a:r>
          </a:p>
          <a:p>
            <a:pPr marL="0" indent="0">
              <a:buNone/>
            </a:pPr>
            <a:endParaRPr lang="fr-FR" dirty="0">
              <a:solidFill>
                <a:schemeClr val="bg1"/>
              </a:solidFill>
            </a:endParaRPr>
          </a:p>
        </p:txBody>
      </p:sp>
      <p:sp>
        <p:nvSpPr>
          <p:cNvPr id="5" name="Rectangle 4"/>
          <p:cNvSpPr/>
          <p:nvPr/>
        </p:nvSpPr>
        <p:spPr>
          <a:xfrm>
            <a:off x="3369495" y="4341974"/>
            <a:ext cx="439460" cy="1637856"/>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6" name="Connecteur droit 5"/>
          <p:cNvCxnSpPr/>
          <p:nvPr/>
        </p:nvCxnSpPr>
        <p:spPr>
          <a:xfrm>
            <a:off x="3163951" y="5504576"/>
            <a:ext cx="857657" cy="6534"/>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 name="Connecteur droit 7"/>
          <p:cNvCxnSpPr/>
          <p:nvPr/>
        </p:nvCxnSpPr>
        <p:spPr>
          <a:xfrm>
            <a:off x="3160405" y="5259731"/>
            <a:ext cx="857657" cy="6534"/>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 name="Connecteur droit 8"/>
          <p:cNvCxnSpPr/>
          <p:nvPr/>
        </p:nvCxnSpPr>
        <p:spPr>
          <a:xfrm>
            <a:off x="3160405" y="5027024"/>
            <a:ext cx="857657" cy="6534"/>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 name="Connecteur droit 9"/>
          <p:cNvCxnSpPr/>
          <p:nvPr/>
        </p:nvCxnSpPr>
        <p:spPr>
          <a:xfrm>
            <a:off x="3160400" y="4800387"/>
            <a:ext cx="857657" cy="6534"/>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Connecteur droit 10"/>
          <p:cNvCxnSpPr/>
          <p:nvPr/>
        </p:nvCxnSpPr>
        <p:spPr>
          <a:xfrm>
            <a:off x="3160402" y="4574214"/>
            <a:ext cx="857657" cy="6534"/>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Connecteur droit 11"/>
          <p:cNvCxnSpPr/>
          <p:nvPr/>
        </p:nvCxnSpPr>
        <p:spPr>
          <a:xfrm>
            <a:off x="3160401" y="4335439"/>
            <a:ext cx="857657" cy="6534"/>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Connecteur droit 12"/>
          <p:cNvCxnSpPr/>
          <p:nvPr/>
        </p:nvCxnSpPr>
        <p:spPr>
          <a:xfrm>
            <a:off x="3171028" y="4101567"/>
            <a:ext cx="857657" cy="6534"/>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Connecteur droit 13"/>
          <p:cNvCxnSpPr/>
          <p:nvPr/>
        </p:nvCxnSpPr>
        <p:spPr>
          <a:xfrm>
            <a:off x="3160400" y="3856257"/>
            <a:ext cx="857657" cy="6534"/>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Connecteur droit 14"/>
          <p:cNvCxnSpPr/>
          <p:nvPr/>
        </p:nvCxnSpPr>
        <p:spPr>
          <a:xfrm>
            <a:off x="3160400" y="3623782"/>
            <a:ext cx="857657" cy="6534"/>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 name="Connecteur droit 16"/>
          <p:cNvCxnSpPr/>
          <p:nvPr/>
        </p:nvCxnSpPr>
        <p:spPr>
          <a:xfrm>
            <a:off x="3160397" y="5757225"/>
            <a:ext cx="857657" cy="6534"/>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pic>
        <p:nvPicPr>
          <p:cNvPr id="40" name="Image 3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66120" y="2914650"/>
            <a:ext cx="695227" cy="709132"/>
          </a:xfrm>
          <a:prstGeom prst="rect">
            <a:avLst/>
          </a:prstGeom>
        </p:spPr>
      </p:pic>
      <p:cxnSp>
        <p:nvCxnSpPr>
          <p:cNvPr id="41" name="Connecteur droit avec flèche 40"/>
          <p:cNvCxnSpPr/>
          <p:nvPr/>
        </p:nvCxnSpPr>
        <p:spPr>
          <a:xfrm>
            <a:off x="4152900" y="4335439"/>
            <a:ext cx="2905125" cy="0"/>
          </a:xfrm>
          <a:prstGeom prst="straightConnector1">
            <a:avLst/>
          </a:prstGeom>
          <a:ln w="38100">
            <a:solidFill>
              <a:srgbClr val="FFFF00"/>
            </a:solidFill>
            <a:tailEnd type="triangle"/>
          </a:ln>
        </p:spPr>
        <p:style>
          <a:lnRef idx="1">
            <a:schemeClr val="accent1"/>
          </a:lnRef>
          <a:fillRef idx="0">
            <a:schemeClr val="accent1"/>
          </a:fillRef>
          <a:effectRef idx="0">
            <a:schemeClr val="accent1"/>
          </a:effectRef>
          <a:fontRef idx="minor">
            <a:schemeClr val="tx1"/>
          </a:fontRef>
        </p:style>
      </p:cxnSp>
      <p:sp>
        <p:nvSpPr>
          <p:cNvPr id="43" name="Rectangle 42"/>
          <p:cNvSpPr/>
          <p:nvPr/>
        </p:nvSpPr>
        <p:spPr>
          <a:xfrm>
            <a:off x="7187884" y="4135384"/>
            <a:ext cx="1137957" cy="400110"/>
          </a:xfrm>
          <a:prstGeom prst="rect">
            <a:avLst/>
          </a:prstGeom>
        </p:spPr>
        <p:txBody>
          <a:bodyPr wrap="square">
            <a:spAutoFit/>
          </a:bodyPr>
          <a:lstStyle/>
          <a:p>
            <a:pPr algn="ctr"/>
            <a:r>
              <a:rPr lang="fr-FR" sz="2000" dirty="0">
                <a:solidFill>
                  <a:srgbClr val="FFFF00"/>
                </a:solidFill>
                <a:latin typeface="Arial" panose="020B0604020202020204" pitchFamily="34" charset="0"/>
                <a:cs typeface="Arial" panose="020B0604020202020204" pitchFamily="34" charset="0"/>
                <a:sym typeface="Wingdings" panose="05000000000000000000" pitchFamily="2" charset="2"/>
              </a:rPr>
              <a:t>-</a:t>
            </a:r>
            <a:r>
              <a:rPr lang="fr-FR" sz="2000" dirty="0" smtClean="0">
                <a:solidFill>
                  <a:srgbClr val="FFFF00"/>
                </a:solidFill>
                <a:latin typeface="Arial" panose="020B0604020202020204" pitchFamily="34" charset="0"/>
                <a:cs typeface="Arial" panose="020B0604020202020204" pitchFamily="34" charset="0"/>
                <a:sym typeface="Wingdings" panose="05000000000000000000" pitchFamily="2" charset="2"/>
              </a:rPr>
              <a:t> 0,30 € </a:t>
            </a:r>
            <a:endParaRPr lang="fr-FR" sz="2000" dirty="0">
              <a:solidFill>
                <a:srgbClr val="FFFF00"/>
              </a:solidFill>
              <a:latin typeface="Arial" panose="020B0604020202020204" pitchFamily="34" charset="0"/>
              <a:cs typeface="Arial" panose="020B0604020202020204" pitchFamily="34" charset="0"/>
              <a:sym typeface="Wingdings" panose="05000000000000000000" pitchFamily="2" charset="2"/>
            </a:endParaRPr>
          </a:p>
        </p:txBody>
      </p:sp>
      <p:sp>
        <p:nvSpPr>
          <p:cNvPr id="2" name="Rectangle 1"/>
          <p:cNvSpPr/>
          <p:nvPr/>
        </p:nvSpPr>
        <p:spPr>
          <a:xfrm>
            <a:off x="1684186" y="2715218"/>
            <a:ext cx="659093" cy="1107996"/>
          </a:xfrm>
          <a:prstGeom prst="rect">
            <a:avLst/>
          </a:prstGeom>
        </p:spPr>
        <p:txBody>
          <a:bodyPr wrap="square">
            <a:spAutoFit/>
          </a:bodyPr>
          <a:lstStyle/>
          <a:p>
            <a:pPr algn="ctr"/>
            <a:r>
              <a:rPr lang="fr-FR" sz="6600" dirty="0">
                <a:solidFill>
                  <a:srgbClr val="FF0000"/>
                </a:solidFill>
                <a:latin typeface="Arial" panose="020B0604020202020204" pitchFamily="34" charset="0"/>
                <a:cs typeface="Arial" panose="020B0604020202020204" pitchFamily="34" charset="0"/>
              </a:rPr>
              <a:t>X </a:t>
            </a:r>
            <a:endParaRPr lang="fr-FR" sz="6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316343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7" name="Espace réservé du contenu 6"/>
          <p:cNvSpPr>
            <a:spLocks noGrp="1"/>
          </p:cNvSpPr>
          <p:nvPr>
            <p:ph idx="1"/>
          </p:nvPr>
        </p:nvSpPr>
        <p:spPr>
          <a:xfrm>
            <a:off x="770965" y="440577"/>
            <a:ext cx="10515600" cy="5931194"/>
          </a:xfrm>
        </p:spPr>
        <p:txBody>
          <a:bodyPr>
            <a:noAutofit/>
          </a:bodyPr>
          <a:lstStyle/>
          <a:p>
            <a:pPr marL="0" indent="0">
              <a:buNone/>
            </a:pPr>
            <a:endParaRPr lang="fr-FR" dirty="0" smtClean="0">
              <a:solidFill>
                <a:schemeClr val="bg1"/>
              </a:solidFill>
            </a:endParaRPr>
          </a:p>
          <a:p>
            <a:pPr marL="0" indent="0">
              <a:buNone/>
            </a:pPr>
            <a:endParaRPr lang="fr-FR" dirty="0">
              <a:solidFill>
                <a:schemeClr val="bg1"/>
              </a:solidFill>
            </a:endParaRPr>
          </a:p>
          <a:p>
            <a:pPr marL="0" indent="0">
              <a:buNone/>
            </a:pPr>
            <a:endParaRPr lang="fr-FR" dirty="0" smtClean="0">
              <a:solidFill>
                <a:schemeClr val="bg1"/>
              </a:solidFill>
            </a:endParaRPr>
          </a:p>
          <a:p>
            <a:pPr marL="0" indent="0">
              <a:buNone/>
            </a:pPr>
            <a:r>
              <a:rPr lang="fr-FR" dirty="0" smtClean="0">
                <a:solidFill>
                  <a:schemeClr val="bg1"/>
                </a:solidFill>
              </a:rPr>
              <a:t>Le but du test est </a:t>
            </a:r>
            <a:r>
              <a:rPr lang="fr-FR" b="1" u="sng" dirty="0" smtClean="0">
                <a:solidFill>
                  <a:schemeClr val="bg1"/>
                </a:solidFill>
              </a:rPr>
              <a:t>d’accumuler le plus d’argent possible</a:t>
            </a:r>
            <a:r>
              <a:rPr lang="fr-FR" dirty="0" smtClean="0">
                <a:solidFill>
                  <a:schemeClr val="bg1"/>
                </a:solidFill>
              </a:rPr>
              <a:t>. A vous de gérer votre performance pour parvenir à ce but.</a:t>
            </a:r>
          </a:p>
          <a:p>
            <a:pPr marL="0" indent="0">
              <a:buNone/>
            </a:pPr>
            <a:endParaRPr lang="fr-FR" dirty="0">
              <a:solidFill>
                <a:schemeClr val="bg1"/>
              </a:solidFill>
            </a:endParaRPr>
          </a:p>
          <a:p>
            <a:pPr marL="0" indent="0">
              <a:buNone/>
            </a:pPr>
            <a:r>
              <a:rPr lang="fr-FR" dirty="0" smtClean="0">
                <a:solidFill>
                  <a:schemeClr val="bg1"/>
                </a:solidFill>
              </a:rPr>
              <a:t>Bon courage!</a:t>
            </a:r>
            <a:endParaRPr lang="fr-FR" dirty="0">
              <a:solidFill>
                <a:schemeClr val="bg1"/>
              </a:solidFill>
            </a:endParaRPr>
          </a:p>
          <a:p>
            <a:pPr marL="0" indent="0">
              <a:buNone/>
            </a:pPr>
            <a:endParaRPr lang="fr-FR" dirty="0">
              <a:solidFill>
                <a:schemeClr val="bg1"/>
              </a:solidFill>
            </a:endParaRPr>
          </a:p>
        </p:txBody>
      </p:sp>
    </p:spTree>
    <p:extLst>
      <p:ext uri="{BB962C8B-B14F-4D97-AF65-F5344CB8AC3E}">
        <p14:creationId xmlns:p14="http://schemas.microsoft.com/office/powerpoint/2010/main" val="830277701"/>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108</TotalTime>
  <Words>218</Words>
  <Application>Microsoft Office PowerPoint</Application>
  <PresentationFormat>Grand écran</PresentationFormat>
  <Paragraphs>34</Paragraphs>
  <Slides>7</Slides>
  <Notes>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7</vt:i4>
      </vt:variant>
    </vt:vector>
  </HeadingPairs>
  <TitlesOfParts>
    <vt:vector size="12" baseType="lpstr">
      <vt:lpstr>Arial</vt:lpstr>
      <vt:lpstr>Calibri</vt:lpstr>
      <vt:lpstr>Calibri Light</vt:lpstr>
      <vt:lpstr>Wingdings</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Hewlett-Packard Company</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BORDERIES Nicolas</dc:creator>
  <cp:lastModifiedBy>CARRILLO Pablo</cp:lastModifiedBy>
  <cp:revision>18</cp:revision>
  <dcterms:created xsi:type="dcterms:W3CDTF">2017-02-28T09:52:04Z</dcterms:created>
  <dcterms:modified xsi:type="dcterms:W3CDTF">2020-03-10T09:30:06Z</dcterms:modified>
</cp:coreProperties>
</file>